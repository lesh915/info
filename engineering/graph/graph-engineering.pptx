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9692640" y="640080"/>
            <a:ext cx="1188720" cy="365760"/>
          </a:xfrm>
          <a:prstGeom prst="line">
            <a:avLst/>
          </a:prstGeom>
          <a:noFill/>
          <a:ln w="15240">
            <a:solidFill>
              <a:srgbClr val="3A405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81360" y="640080"/>
            <a:ext cx="548640" cy="1005840"/>
          </a:xfrm>
          <a:prstGeom prst="line">
            <a:avLst/>
          </a:prstGeom>
          <a:noFill/>
          <a:ln w="15240">
            <a:solidFill>
              <a:srgbClr val="3A405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1005840"/>
            <a:ext cx="640080" cy="1097280"/>
          </a:xfrm>
          <a:prstGeom prst="line">
            <a:avLst/>
          </a:prstGeom>
          <a:noFill/>
          <a:ln w="15240">
            <a:solidFill>
              <a:srgbClr val="3A405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0332720" y="1645920"/>
            <a:ext cx="1097280" cy="457200"/>
          </a:xfrm>
          <a:prstGeom prst="line">
            <a:avLst/>
          </a:prstGeom>
          <a:noFill/>
          <a:ln w="15240">
            <a:solidFill>
              <a:srgbClr val="3A405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H="1" flipV="1">
            <a:off x="9326880" y="1828800"/>
            <a:ext cx="1005840" cy="274320"/>
          </a:xfrm>
          <a:prstGeom prst="line">
            <a:avLst/>
          </a:prstGeom>
          <a:noFill/>
          <a:ln w="15240">
            <a:solidFill>
              <a:srgbClr val="3A405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>
            <a:off x="9326880" y="1005840"/>
            <a:ext cx="365760" cy="822960"/>
          </a:xfrm>
          <a:prstGeom prst="line">
            <a:avLst/>
          </a:prstGeom>
          <a:noFill/>
          <a:ln w="15240">
            <a:solidFill>
              <a:srgbClr val="3A405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37776" y="950976"/>
            <a:ext cx="109728" cy="109728"/>
          </a:xfrm>
          <a:prstGeom prst="ellipse">
            <a:avLst/>
          </a:prstGeom>
          <a:solidFill>
            <a:srgbClr val="E15530"/>
          </a:solidFill>
          <a:ln/>
        </p:spPr>
      </p:sp>
      <p:sp>
        <p:nvSpPr>
          <p:cNvPr id="9" name="Shape 7"/>
          <p:cNvSpPr/>
          <p:nvPr/>
        </p:nvSpPr>
        <p:spPr>
          <a:xfrm>
            <a:off x="10826496" y="585216"/>
            <a:ext cx="109728" cy="10972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0" name="Shape 8"/>
          <p:cNvSpPr/>
          <p:nvPr/>
        </p:nvSpPr>
        <p:spPr>
          <a:xfrm>
            <a:off x="11375136" y="1591056"/>
            <a:ext cx="109728" cy="109728"/>
          </a:xfrm>
          <a:prstGeom prst="ellipse">
            <a:avLst/>
          </a:prstGeom>
          <a:solidFill>
            <a:srgbClr val="E15530"/>
          </a:solidFill>
          <a:ln/>
        </p:spPr>
      </p:sp>
      <p:sp>
        <p:nvSpPr>
          <p:cNvPr id="11" name="Shape 9"/>
          <p:cNvSpPr/>
          <p:nvPr/>
        </p:nvSpPr>
        <p:spPr>
          <a:xfrm>
            <a:off x="10277856" y="2048256"/>
            <a:ext cx="109728" cy="10972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2" name="Shape 10"/>
          <p:cNvSpPr/>
          <p:nvPr/>
        </p:nvSpPr>
        <p:spPr>
          <a:xfrm>
            <a:off x="9272016" y="1773936"/>
            <a:ext cx="109728" cy="109728"/>
          </a:xfrm>
          <a:prstGeom prst="ellipse">
            <a:avLst/>
          </a:prstGeom>
          <a:solidFill>
            <a:srgbClr val="E1553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331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A5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 ORCHESTRATION ARCHITECTURE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" y="269748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그래프 엔지니어링</a:t>
            </a:r>
            <a:endParaRPr lang="en-US" sz="5400" dirty="0"/>
          </a:p>
        </p:txBody>
      </p:sp>
      <p:sp>
        <p:nvSpPr>
          <p:cNvPr id="15" name="Text 13"/>
          <p:cNvSpPr/>
          <p:nvPr/>
        </p:nvSpPr>
        <p:spPr>
          <a:xfrm>
            <a:off x="640080" y="39776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CD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Graph Engineering — 루프 엔지니어링과의 차이, 아키텍처 원형, 선택 기준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4617720"/>
            <a:ext cx="2926080" cy="0"/>
          </a:xfrm>
          <a:prstGeom prst="line">
            <a:avLst/>
          </a:prstGeom>
          <a:noFill/>
          <a:ln w="25400">
            <a:solidFill>
              <a:srgbClr val="E155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8463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대상: AI 에이전트 개발자 · 그래프 엔지니어
</a:t>
            </a:r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9AA0A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범위: 오케스트레이션 아키텍처 (지식그래프/온톨로지 아님)
</a:t>
            </a:r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9AA0A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기준 시점: 2026년 8월 · 공개 출처 기반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F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2A5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목차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15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508760" y="2084832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그래프 엔지니어링이란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017520"/>
            <a:ext cx="5212080" cy="0"/>
          </a:xfrm>
          <a:prstGeom prst="line">
            <a:avLst/>
          </a:prstGeom>
          <a:noFill/>
          <a:ln w="9525">
            <a:solidFill>
              <a:srgbClr val="3A40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29184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15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508760" y="3410712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용어의 등장 배경과 두 시각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4343400"/>
            <a:ext cx="5212080" cy="0"/>
          </a:xfrm>
          <a:prstGeom prst="line">
            <a:avLst/>
          </a:prstGeom>
          <a:noFill/>
          <a:ln w="9525">
            <a:solidFill>
              <a:srgbClr val="3A405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461772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15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508760" y="4736592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배경지식 — 루프 엔지니어링과 ReAct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5669280"/>
            <a:ext cx="5212080" cy="0"/>
          </a:xfrm>
          <a:prstGeom prst="line">
            <a:avLst/>
          </a:prstGeom>
          <a:noFill/>
          <a:ln w="9525">
            <a:solidFill>
              <a:srgbClr val="3A405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196596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15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178040" y="2084832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루프 vs 그래프 비교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17920" y="3017520"/>
            <a:ext cx="5212080" cy="0"/>
          </a:xfrm>
          <a:prstGeom prst="line">
            <a:avLst/>
          </a:prstGeom>
          <a:noFill/>
          <a:ln w="9525">
            <a:solidFill>
              <a:srgbClr val="3A405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329184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15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7178040" y="3410712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아키텍처 원형과 구성요소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217920" y="4343400"/>
            <a:ext cx="5212080" cy="0"/>
          </a:xfrm>
          <a:prstGeom prst="line">
            <a:avLst/>
          </a:prstGeom>
          <a:noFill/>
          <a:ln w="9525">
            <a:solidFill>
              <a:srgbClr val="3A405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461772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15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7178040" y="4736592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선택 기준과 안티패턴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17920" y="5669280"/>
            <a:ext cx="5212080" cy="0"/>
          </a:xfrm>
          <a:prstGeom prst="line">
            <a:avLst/>
          </a:prstGeom>
          <a:noFill/>
          <a:ln w="9525">
            <a:solidFill>
              <a:srgbClr val="3A405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0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그래프 엔지니어링 — 개념 정리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0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15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· DEFINITION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그래프 엔지니어링이란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5F6F8"/>
          </a:solidFill>
          <a:ln/>
        </p:spPr>
      </p:sp>
      <p:pic>
        <p:nvPicPr>
          <p:cNvPr id="5" name="Image 0" descr="icons/FaQuoteLeft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938528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828800"/>
            <a:ext cx="9966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F24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그래프 엔지니어링은 </a:t>
            </a:r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E15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런타임 작업 그래프(work graph)가 어떻게 형성되고 변화하는지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F24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를 다루고, </a:t>
            </a:r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1F24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루프 엔지니어링은 개별 에이전트 노드 하나가 내부적으로 어떻게 실행되는지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F24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를 다룬다 — 서로 다른 추상화 층위.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371600" y="272491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5F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TrueFoundry, 2026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3246120"/>
            <a:ext cx="11064240" cy="777240"/>
          </a:xfrm>
          <a:prstGeom prst="roundRect">
            <a:avLst>
              <a:gd name="adj" fmla="val 8235"/>
            </a:avLst>
          </a:prstGeom>
          <a:solidFill>
            <a:srgbClr val="1F2430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3246120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그래프 엔지니어링 — 여러 루프를 어떻게 연결·병렬화·감시할 것인가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4160520"/>
            <a:ext cx="11064240" cy="777240"/>
          </a:xfrm>
          <a:prstGeom prst="roundRect">
            <a:avLst>
              <a:gd name="adj" fmla="val 8235"/>
            </a:avLst>
          </a:prstGeom>
          <a:solidFill>
            <a:srgbClr val="F5F6F8"/>
          </a:solidFill>
          <a:ln w="12700">
            <a:solidFill>
              <a:srgbClr val="E3E5E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" y="4160520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루프 엔지니어링 — 하나의 에이전트가 목표를 향해 어떻게 안정적으로 수렴할 것인가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0" y="4023360"/>
            <a:ext cx="320040" cy="137160"/>
          </a:xfrm>
          <a:prstGeom prst="downArrow">
            <a:avLst/>
          </a:prstGeom>
          <a:solidFill>
            <a:srgbClr val="8B909C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51663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5F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층위는 서로 배타적이지 않다 — 그래프의 노드 하나가 곧 하나의 루프다.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548640" y="6172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0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TrueFoundry — Graph Engineering for Multi-Agent Systems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0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그래프 엔지니어링 — 개념 정리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0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15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· TIMELINE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용어의 등장 배경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417320" y="2011680"/>
            <a:ext cx="0" cy="3931920"/>
          </a:xfrm>
          <a:prstGeom prst="line">
            <a:avLst/>
          </a:prstGeom>
          <a:noFill/>
          <a:ln w="25400">
            <a:solidFill>
              <a:srgbClr val="E3E5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98448" y="1920240"/>
            <a:ext cx="237744" cy="237744"/>
          </a:xfrm>
          <a:prstGeom prst="ellipse">
            <a:avLst/>
          </a:prstGeom>
          <a:solidFill>
            <a:srgbClr val="F2A54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2880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A5F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2026년 중반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783080" y="180136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"루프 엔지니어링" 대중화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783080" y="2167128"/>
            <a:ext cx="9418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5F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 Code 개발자 Boris Cherny, OpenClaw 제작자 Peter Steinberger — "프롬프트 대신, 프롬프트를 만드는 루프를 설계한다"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298448" y="3337560"/>
            <a:ext cx="237744" cy="237744"/>
          </a:xfrm>
          <a:prstGeom prst="ellipse">
            <a:avLst/>
          </a:prstGeom>
          <a:solidFill>
            <a:srgbClr val="E1553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4612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A5F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2026년 7월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783080" y="321868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"그래프 엔지니어링" 등장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783080" y="3584448"/>
            <a:ext cx="9418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5F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여러 에이전트 간 조율을 설명하는 후속 용어로 확산. Andrew Ng 지식그래프 강좌 + Linear "Loops" 기능 출시가 겹치며 논쟁 재점화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298448" y="4754880"/>
            <a:ext cx="237744" cy="237744"/>
          </a:xfrm>
          <a:prstGeom prst="ellipse">
            <a:avLst/>
          </a:prstGeom>
          <a:solidFill>
            <a:srgbClr val="F2A54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66344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A5F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2026년 7월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783080" y="463600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Harrison Chase(LangChain 창립자) 반응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783080" y="5001768"/>
            <a:ext cx="9418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5F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"그래프 엔지니어링이 뭔지 잘 모르겠지만, 결국 LangGraph를 가리키는 것 같다" — X 게시글, 다수 공감 반응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6172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0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AQE Digital — Loop Engineering vs Graph Engineering / explainx.ai — Graphs vs. Loops Debate 2026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0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그래프 엔지니어링 — 개념 정리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0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15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· TERMINOLOGY CHECK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혼동하기 쉬운 두 개의 "그래프"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49240" cy="3383280"/>
          </a:xfrm>
          <a:prstGeom prst="roundRect">
            <a:avLst>
              <a:gd name="adj" fmla="val 2703"/>
            </a:avLst>
          </a:prstGeom>
          <a:solidFill>
            <a:srgbClr val="1F2430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94560"/>
            <a:ext cx="777240" cy="777240"/>
          </a:xfrm>
          <a:prstGeom prst="ellipse">
            <a:avLst/>
          </a:prstGeom>
          <a:solidFill>
            <a:srgbClr val="E15530"/>
          </a:solidFill>
          <a:ln/>
        </p:spPr>
      </p:sp>
      <p:pic>
        <p:nvPicPr>
          <p:cNvPr id="6" name="Image 0" descr="icons/FaSitemap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37744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15468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오케스트레이션 그래프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914400" y="3566160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2A5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(본 문서의 주제)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14400" y="3977640"/>
            <a:ext cx="4617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9CD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에이전트·도구·단계 간 실행 순서와 제어 흐름을 그래프로 모델링. LangGraph, AutoGen 등이 구현.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63640" y="1828800"/>
            <a:ext cx="5349240" cy="3383280"/>
          </a:xfrm>
          <a:prstGeom prst="roundRect">
            <a:avLst>
              <a:gd name="adj" fmla="val 2703"/>
            </a:avLst>
          </a:prstGeom>
          <a:solidFill>
            <a:srgbClr val="F5F6F8"/>
          </a:solidFill>
          <a:ln w="12700">
            <a:solidFill>
              <a:srgbClr val="E3E5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629400" y="2194560"/>
            <a:ext cx="777240" cy="777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3E5EA"/>
            </a:solidFill>
            <a:prstDash val="solid"/>
          </a:ln>
        </p:spPr>
      </p:sp>
      <p:pic>
        <p:nvPicPr>
          <p:cNvPr id="12" name="Image 1" descr="icons/FaNetworkWired_5A5F6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237744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629400" y="315468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4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지식그래프 / 온톨로지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6629400" y="3566160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15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(별개 개념)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6629400" y="3977640"/>
            <a:ext cx="4617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A5F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엔티티와 관계를 나타내는 데이터 구조. Neo4j 등에 적재되는 도메인 지식 표현 방식.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548640" y="53492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개념은 "노드"·"엣지"라는 용어만 공유할 뿐 서로 다른 대상을 가리킨다.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548640" y="6172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0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explainx.ai — Graphs vs. Loops: Agentic AI Orchestration Debate 2026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0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그래프 엔지니어링 — 개념 정리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0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15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· PERSPECTIVES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개의 시각 — 재브랜딩인가, 실익인가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4160520"/>
          </a:xfrm>
          <a:prstGeom prst="roundRect">
            <a:avLst>
              <a:gd name="adj" fmla="val 2198"/>
            </a:avLst>
          </a:prstGeom>
          <a:solidFill>
            <a:srgbClr val="F5F6F8"/>
          </a:solidFill>
          <a:ln w="12700">
            <a:solidFill>
              <a:srgbClr val="E3E5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057400"/>
            <a:ext cx="594360" cy="5943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3E5EA"/>
            </a:solidFill>
            <a:prstDash val="solid"/>
          </a:ln>
        </p:spPr>
      </p:sp>
      <p:pic>
        <p:nvPicPr>
          <p:cNvPr id="6" name="Image 0" descr="icons/FaBalanceScale_5A5F6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19456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029968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4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비판적 시각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600200" y="237744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F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"새로운 것은 어휘뿐"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914400" y="2953512"/>
            <a:ext cx="82296" cy="82296"/>
          </a:xfrm>
          <a:prstGeom prst="ellipse">
            <a:avLst/>
          </a:prstGeom>
          <a:solidFill>
            <a:srgbClr val="5A5F6B"/>
          </a:solidFill>
          <a:ln/>
        </p:spPr>
      </p:sp>
      <p:sp>
        <p:nvSpPr>
          <p:cNvPr id="10" name="Text 7"/>
          <p:cNvSpPr/>
          <p:nvPr/>
        </p:nvSpPr>
        <p:spPr>
          <a:xfrm>
            <a:off x="1143000" y="2825496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4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State-machine/그래프 오케스트레이션은 LangGraph·AutoGen·Google ADK에 이미 구현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914400" y="3849624"/>
            <a:ext cx="82296" cy="82296"/>
          </a:xfrm>
          <a:prstGeom prst="ellipse">
            <a:avLst/>
          </a:prstGeom>
          <a:solidFill>
            <a:srgbClr val="5A5F6B"/>
          </a:solidFill>
          <a:ln/>
        </p:spPr>
      </p:sp>
      <p:sp>
        <p:nvSpPr>
          <p:cNvPr id="12" name="Text 9"/>
          <p:cNvSpPr/>
          <p:nvPr/>
        </p:nvSpPr>
        <p:spPr>
          <a:xfrm>
            <a:off x="1143000" y="3721608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4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더 거슬러 올라가면 Airflow의 DAG 스케줄러도 동일 구조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914400" y="4745736"/>
            <a:ext cx="82296" cy="82296"/>
          </a:xfrm>
          <a:prstGeom prst="ellipse">
            <a:avLst/>
          </a:prstGeom>
          <a:solidFill>
            <a:srgbClr val="5A5F6B"/>
          </a:solidFill>
          <a:ln/>
        </p:spPr>
      </p:sp>
      <p:sp>
        <p:nvSpPr>
          <p:cNvPr id="14" name="Text 11"/>
          <p:cNvSpPr/>
          <p:nvPr/>
        </p:nvSpPr>
        <p:spPr>
          <a:xfrm>
            <a:off x="1143000" y="4617720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4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Anthropic이 2024년 말 이미 5개 패턴으로 정리(체이닝/라우팅/병렬화/오케스트레이터-워커/평가자-최적화자)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263640" y="1783080"/>
            <a:ext cx="5349240" cy="4160520"/>
          </a:xfrm>
          <a:prstGeom prst="roundRect">
            <a:avLst>
              <a:gd name="adj" fmla="val 2198"/>
            </a:avLst>
          </a:prstGeom>
          <a:solidFill>
            <a:srgbClr val="F5F6F8"/>
          </a:solidFill>
          <a:ln w="12700">
            <a:solidFill>
              <a:srgbClr val="E3E5E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583680" y="2057400"/>
            <a:ext cx="594360" cy="5943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3E5EA"/>
            </a:solidFill>
            <a:prstDash val="solid"/>
          </a:ln>
        </p:spPr>
      </p:sp>
      <p:pic>
        <p:nvPicPr>
          <p:cNvPr id="17" name="Image 1" descr="icons/FaCheckCircle_E1553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194560"/>
            <a:ext cx="320040" cy="32004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315200" y="2029968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4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실무 옹호 시각</a:t>
            </a:r>
            <a:endParaRPr lang="en-US" sz="1700" dirty="0"/>
          </a:p>
        </p:txBody>
      </p:sp>
      <p:sp>
        <p:nvSpPr>
          <p:cNvPr id="19" name="Text 15"/>
          <p:cNvSpPr/>
          <p:nvPr/>
        </p:nvSpPr>
        <p:spPr>
          <a:xfrm>
            <a:off x="7315200" y="237744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15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"구분 자체가 실익"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629400" y="2953512"/>
            <a:ext cx="82296" cy="82296"/>
          </a:xfrm>
          <a:prstGeom prst="ellipse">
            <a:avLst/>
          </a:prstGeom>
          <a:solidFill>
            <a:srgbClr val="E15530"/>
          </a:solidFill>
          <a:ln/>
        </p:spPr>
      </p:sp>
      <p:sp>
        <p:nvSpPr>
          <p:cNvPr id="21" name="Text 17"/>
          <p:cNvSpPr/>
          <p:nvPr/>
        </p:nvSpPr>
        <p:spPr>
          <a:xfrm>
            <a:off x="6858000" y="2825496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4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"단일 루프 안정화"와 "여러 루프의 병렬화·거버넌스·감사"는 실제로 다른 관심사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6629400" y="3849624"/>
            <a:ext cx="82296" cy="82296"/>
          </a:xfrm>
          <a:prstGeom prst="ellipse">
            <a:avLst/>
          </a:prstGeom>
          <a:solidFill>
            <a:srgbClr val="E15530"/>
          </a:solidFill>
          <a:ln/>
        </p:spPr>
      </p:sp>
      <p:sp>
        <p:nvSpPr>
          <p:cNvPr id="23" name="Text 19"/>
          <p:cNvSpPr/>
          <p:nvPr/>
        </p:nvSpPr>
        <p:spPr>
          <a:xfrm>
            <a:off x="6858000" y="3721608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4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이를 구분해 부르는 것 자체가 실무 의사소통에 유용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6629400" y="4745736"/>
            <a:ext cx="82296" cy="82296"/>
          </a:xfrm>
          <a:prstGeom prst="ellipse">
            <a:avLst/>
          </a:prstGeom>
          <a:solidFill>
            <a:srgbClr val="E15530"/>
          </a:solidFill>
          <a:ln/>
        </p:spPr>
      </p:sp>
      <p:sp>
        <p:nvSpPr>
          <p:cNvPr id="25" name="Text 21"/>
          <p:cNvSpPr/>
          <p:nvPr/>
        </p:nvSpPr>
        <p:spPr>
          <a:xfrm>
            <a:off x="6858000" y="4617720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4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TrueFoundry·Eigent 등은 이 구분을 조직 설계에 실제 적용</a:t>
            </a:r>
            <a:endParaRPr lang="en-US" sz="1150" dirty="0"/>
          </a:p>
        </p:txBody>
      </p:sp>
      <p:sp>
        <p:nvSpPr>
          <p:cNvPr id="26" name="Text 22"/>
          <p:cNvSpPr/>
          <p:nvPr/>
        </p:nvSpPr>
        <p:spPr>
          <a:xfrm>
            <a:off x="548640" y="6172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0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Louis Bouchard — Graph Engineering vs Loop Engineering / Eigent — Graph Engineering for AI Agents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0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그래프 엔지니어링 — 개념 정리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0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15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· FOUNDATIONS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배경지식 — 에이전트 루프와 ReAct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 (Reasoning + Acting, Yao et al. 2022/2023)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F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추론과 행동을 하나의 반복 사이클에서 교차시키는 패턴. 관찰 결과가 다음 추론에 반영된다.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914400" y="2834640"/>
            <a:ext cx="3200400" cy="1965960"/>
          </a:xfrm>
          <a:prstGeom prst="roundRect">
            <a:avLst>
              <a:gd name="adj" fmla="val 4186"/>
            </a:avLst>
          </a:prstGeom>
          <a:solidFill>
            <a:srgbClr val="F5F6F8"/>
          </a:solidFill>
          <a:ln w="12700">
            <a:solidFill>
              <a:srgbClr val="E3E5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48840" y="3063240"/>
            <a:ext cx="731520" cy="731520"/>
          </a:xfrm>
          <a:prstGeom prst="ellipse">
            <a:avLst/>
          </a:prstGeom>
          <a:solidFill>
            <a:srgbClr val="1F2430"/>
          </a:solidFill>
          <a:ln/>
        </p:spPr>
      </p:sp>
      <p:pic>
        <p:nvPicPr>
          <p:cNvPr id="8" name="Image 0" descr="icons/FaLightbulb_E1553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3432" y="3227832"/>
            <a:ext cx="402336" cy="40233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3931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Thought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97280" y="431596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5F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상태를 해석하고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5F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행동을 결정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169664" y="3611880"/>
            <a:ext cx="384048" cy="274320"/>
          </a:xfrm>
          <a:prstGeom prst="rightArrow">
            <a:avLst/>
          </a:prstGeom>
          <a:solidFill>
            <a:srgbClr val="8B909C"/>
          </a:solidFill>
          <a:ln/>
        </p:spPr>
      </p:sp>
      <p:sp>
        <p:nvSpPr>
          <p:cNvPr id="12" name="Shape 9"/>
          <p:cNvSpPr/>
          <p:nvPr/>
        </p:nvSpPr>
        <p:spPr>
          <a:xfrm>
            <a:off x="4617720" y="2834640"/>
            <a:ext cx="3200400" cy="1965960"/>
          </a:xfrm>
          <a:prstGeom prst="roundRect">
            <a:avLst>
              <a:gd name="adj" fmla="val 4186"/>
            </a:avLst>
          </a:prstGeom>
          <a:solidFill>
            <a:srgbClr val="F5F6F8"/>
          </a:solidFill>
          <a:ln w="12700">
            <a:solidFill>
              <a:srgbClr val="E3E5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852160" y="3063240"/>
            <a:ext cx="731520" cy="731520"/>
          </a:xfrm>
          <a:prstGeom prst="ellipse">
            <a:avLst/>
          </a:prstGeom>
          <a:solidFill>
            <a:srgbClr val="1F2430"/>
          </a:solidFill>
          <a:ln/>
        </p:spPr>
      </p:sp>
      <p:pic>
        <p:nvPicPr>
          <p:cNvPr id="14" name="Image 1" descr="icons/FaCodeBranch_F2A54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6752" y="3227832"/>
            <a:ext cx="402336" cy="40233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17720" y="3931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Action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4800600" y="431596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5F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도구를 호출해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5F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환경과 상호작용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7872984" y="3611880"/>
            <a:ext cx="384048" cy="274320"/>
          </a:xfrm>
          <a:prstGeom prst="rightArrow">
            <a:avLst/>
          </a:prstGeom>
          <a:solidFill>
            <a:srgbClr val="8B909C"/>
          </a:solidFill>
          <a:ln/>
        </p:spPr>
      </p:sp>
      <p:sp>
        <p:nvSpPr>
          <p:cNvPr id="18" name="Shape 14"/>
          <p:cNvSpPr/>
          <p:nvPr/>
        </p:nvSpPr>
        <p:spPr>
          <a:xfrm>
            <a:off x="8321040" y="2834640"/>
            <a:ext cx="3200400" cy="1965960"/>
          </a:xfrm>
          <a:prstGeom prst="roundRect">
            <a:avLst>
              <a:gd name="adj" fmla="val 4186"/>
            </a:avLst>
          </a:prstGeom>
          <a:solidFill>
            <a:srgbClr val="F5F6F8"/>
          </a:solidFill>
          <a:ln w="12700">
            <a:solidFill>
              <a:srgbClr val="E3E5E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9555480" y="3063240"/>
            <a:ext cx="731520" cy="731520"/>
          </a:xfrm>
          <a:prstGeom prst="ellipse">
            <a:avLst/>
          </a:prstGeom>
          <a:solidFill>
            <a:srgbClr val="1F2430"/>
          </a:solidFill>
          <a:ln/>
        </p:spPr>
      </p:sp>
      <p:pic>
        <p:nvPicPr>
          <p:cNvPr id="20" name="Image 2" descr="icons/FaChartBar_5A5F6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0072" y="3227832"/>
            <a:ext cx="402336" cy="40233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321040" y="3931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Observation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8503920" y="431596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5F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실행 결과를 받아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5F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컨텍스트에 반영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9921240" y="4800600"/>
            <a:ext cx="9144" cy="338328"/>
          </a:xfrm>
          <a:prstGeom prst="line">
            <a:avLst/>
          </a:prstGeom>
          <a:noFill/>
          <a:ln w="19050">
            <a:solidFill>
              <a:srgbClr val="8B909C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2514600" y="5138928"/>
            <a:ext cx="7406640" cy="9144"/>
          </a:xfrm>
          <a:prstGeom prst="line">
            <a:avLst/>
          </a:prstGeom>
          <a:noFill/>
          <a:ln w="19050">
            <a:solidFill>
              <a:srgbClr val="8B909C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 flipV="1">
            <a:off x="2514600" y="4800600"/>
            <a:ext cx="9144" cy="338328"/>
          </a:xfrm>
          <a:prstGeom prst="line">
            <a:avLst/>
          </a:prstGeom>
          <a:noFill/>
          <a:ln w="19050">
            <a:solidFill>
              <a:srgbClr val="8B909C"/>
            </a:solidFill>
            <a:prstDash val="solid"/>
            <a:headEnd type="none"/>
            <a:tailEnd type="triangle"/>
          </a:ln>
        </p:spPr>
      </p:sp>
      <p:sp>
        <p:nvSpPr>
          <p:cNvPr id="26" name="Text 21"/>
          <p:cNvSpPr/>
          <p:nvPr/>
        </p:nvSpPr>
        <p:spPr>
          <a:xfrm>
            <a:off x="914400" y="5285232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A5F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Observation → 다음 Thought로 순환</a:t>
            </a:r>
            <a:endParaRPr lang="en-US" sz="1050" dirty="0"/>
          </a:p>
        </p:txBody>
      </p:sp>
      <p:sp>
        <p:nvSpPr>
          <p:cNvPr id="27" name="Text 22"/>
          <p:cNvSpPr/>
          <p:nvPr/>
        </p:nvSpPr>
        <p:spPr>
          <a:xfrm>
            <a:off x="548640" y="59893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15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초기 연구: ALFWorld 대비 34%, WebShop 대비 10% 성능 향상 보고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0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MindStudio — What Is the ReAct Loop? / Data Science Dojo — Agentic loops explained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2A5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· FAILURE MODES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단일 루프의 알려진 실패 모드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2A3040"/>
          </a:solidFill>
          <a:ln/>
        </p:spPr>
      </p:sp>
      <p:sp>
        <p:nvSpPr>
          <p:cNvPr id="5" name="Shape 3"/>
          <p:cNvSpPr/>
          <p:nvPr/>
        </p:nvSpPr>
        <p:spPr>
          <a:xfrm>
            <a:off x="1504188" y="2240280"/>
            <a:ext cx="694944" cy="694944"/>
          </a:xfrm>
          <a:prstGeom prst="ellipse">
            <a:avLst/>
          </a:prstGeom>
          <a:solidFill>
            <a:srgbClr val="E15530"/>
          </a:solidFill>
          <a:ln/>
        </p:spPr>
      </p:sp>
      <p:pic>
        <p:nvPicPr>
          <p:cNvPr id="6" name="Image 0" descr="icons/FaSyncAlt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8780" y="2404872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10896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무한 루프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31520" y="361188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C9CD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명확한 검증 기준이 없어 끝없이 "개선"을 시도. 2023년 AutoGPT 사례가 대표적.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3383280" y="192024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2A3040"/>
          </a:solidFill>
          <a:ln/>
        </p:spPr>
      </p:sp>
      <p:sp>
        <p:nvSpPr>
          <p:cNvPr id="10" name="Shape 7"/>
          <p:cNvSpPr/>
          <p:nvPr/>
        </p:nvSpPr>
        <p:spPr>
          <a:xfrm>
            <a:off x="4338828" y="2240280"/>
            <a:ext cx="694944" cy="694944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11" name="Image 1" descr="icons/FaRout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3420" y="2404872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20440" y="310896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 표류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566160" y="361188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C9CD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모호한 지시나 예상치 못한 도구 결과에 이끌려 관련은 있으나 다른 목표를 추구.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6217920" y="192024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2A3040"/>
          </a:solidFill>
          <a:ln/>
        </p:spPr>
      </p:sp>
      <p:sp>
        <p:nvSpPr>
          <p:cNvPr id="15" name="Shape 11"/>
          <p:cNvSpPr/>
          <p:nvPr/>
        </p:nvSpPr>
        <p:spPr>
          <a:xfrm>
            <a:off x="7173468" y="2240280"/>
            <a:ext cx="694944" cy="694944"/>
          </a:xfrm>
          <a:prstGeom prst="ellipse">
            <a:avLst/>
          </a:prstGeom>
          <a:solidFill>
            <a:srgbClr val="E15530"/>
          </a:solidFill>
          <a:ln/>
        </p:spPr>
      </p:sp>
      <p:pic>
        <p:nvPicPr>
          <p:cNvPr id="16" name="Image 2" descr="icons/FaExclamationTriangl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8060" y="2404872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55080" y="310896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컨텍스트 오버플로우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400800" y="361188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C9CD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장시간 세션에서 컨텍스트 윈도우가 가득 차 추론 품질이 저하.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9052560" y="192024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2A3040"/>
          </a:solidFill>
          <a:ln/>
        </p:spPr>
      </p:sp>
      <p:sp>
        <p:nvSpPr>
          <p:cNvPr id="20" name="Shape 15"/>
          <p:cNvSpPr/>
          <p:nvPr/>
        </p:nvSpPr>
        <p:spPr>
          <a:xfrm>
            <a:off x="10008108" y="2240280"/>
            <a:ext cx="694944" cy="694944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21" name="Image 3" descr="icons/FaQuestionCircle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2700" y="2404872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89720" y="310896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침묵 실패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9235440" y="361188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C9CD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진전이 없음에도 확신에 찬 출력을 생성.</a:t>
            </a:r>
            <a:endParaRPr lang="en-US" sz="1080" dirty="0"/>
          </a:p>
        </p:txBody>
      </p:sp>
      <p:sp>
        <p:nvSpPr>
          <p:cNvPr id="24" name="Text 18"/>
          <p:cNvSpPr/>
          <p:nvPr/>
        </p:nvSpPr>
        <p:spPr>
          <a:xfrm>
            <a:off x="548640" y="54864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2A5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루프 엔지니어링은 이 실패 모드들을 검증기(verifier)와 정지 조건으로 관리하는 작업이다.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0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Data Science Dojo — Agentic loops explained: From ReAct to loop engineering (2026)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15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· COMPARISON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루프 엔지니어링 vs 그래프 엔지니어링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920240" cy="566928"/>
          </a:xfrm>
          <a:prstGeom prst="rect">
            <a:avLst/>
          </a:prstGeom>
          <a:solidFill>
            <a:srgbClr val="1F2430"/>
          </a:solidFill>
          <a:ln w="9525">
            <a:solidFill>
              <a:srgbClr val="E3E5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783080"/>
            <a:ext cx="17007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구분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468880" y="1783080"/>
            <a:ext cx="4434840" cy="566928"/>
          </a:xfrm>
          <a:prstGeom prst="rect">
            <a:avLst/>
          </a:prstGeom>
          <a:solidFill>
            <a:srgbClr val="1F2430"/>
          </a:solidFill>
          <a:ln w="9525">
            <a:solidFill>
              <a:srgbClr val="E3E5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78608" y="1783080"/>
            <a:ext cx="42153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루프 엔지니어링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903720" y="1783080"/>
            <a:ext cx="4434840" cy="566928"/>
          </a:xfrm>
          <a:prstGeom prst="rect">
            <a:avLst/>
          </a:prstGeom>
          <a:solidFill>
            <a:srgbClr val="1F2430"/>
          </a:solidFill>
          <a:ln w="9525">
            <a:solidFill>
              <a:srgbClr val="E3E5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13448" y="1783080"/>
            <a:ext cx="42153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그래프 엔지니어링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350008"/>
            <a:ext cx="1920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5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350008"/>
            <a:ext cx="17007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F24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단위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68880" y="2350008"/>
            <a:ext cx="4434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5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78608" y="2350008"/>
            <a:ext cx="42153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5F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단일 에이전트의 추론-행동-관찰 사이클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03720" y="2350008"/>
            <a:ext cx="4434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5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13448" y="2350008"/>
            <a:ext cx="42153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15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여러 노드 간 방향성 그래프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916936"/>
            <a:ext cx="1920240" cy="566928"/>
          </a:xfrm>
          <a:prstGeom prst="rect">
            <a:avLst/>
          </a:prstGeom>
          <a:solidFill>
            <a:srgbClr val="F5F6F8"/>
          </a:solidFill>
          <a:ln w="9525">
            <a:solidFill>
              <a:srgbClr val="E3E5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2916936"/>
            <a:ext cx="17007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F24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제어 흐름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68880" y="2916936"/>
            <a:ext cx="4434840" cy="566928"/>
          </a:xfrm>
          <a:prstGeom prst="rect">
            <a:avLst/>
          </a:prstGeom>
          <a:solidFill>
            <a:srgbClr val="F5F6F8"/>
          </a:solidFill>
          <a:ln w="9525">
            <a:solidFill>
              <a:srgbClr val="E3E5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78608" y="2916936"/>
            <a:ext cx="42153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5F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암묵적 — 모델이 매 스텝 결정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03720" y="2916936"/>
            <a:ext cx="4434840" cy="566928"/>
          </a:xfrm>
          <a:prstGeom prst="rect">
            <a:avLst/>
          </a:prstGeom>
          <a:solidFill>
            <a:srgbClr val="F5F6F8"/>
          </a:solidFill>
          <a:ln w="9525">
            <a:solidFill>
              <a:srgbClr val="E3E5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13448" y="2916936"/>
            <a:ext cx="42153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15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명시적 — 엣지·조건부 라우팅으로 구조화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483864"/>
            <a:ext cx="1920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5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3483864"/>
            <a:ext cx="17007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F24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병렬성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468880" y="3483864"/>
            <a:ext cx="4434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5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78608" y="3483864"/>
            <a:ext cx="42153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5F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기본적으로 순차적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903720" y="3483864"/>
            <a:ext cx="4434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5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13448" y="3483864"/>
            <a:ext cx="42153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15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Fan-out / Fan-in 동시 실행 가능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4050792"/>
            <a:ext cx="1920240" cy="566928"/>
          </a:xfrm>
          <a:prstGeom prst="rect">
            <a:avLst/>
          </a:prstGeom>
          <a:solidFill>
            <a:srgbClr val="F5F6F8"/>
          </a:solidFill>
          <a:ln w="9525">
            <a:solidFill>
              <a:srgbClr val="E3E5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" y="4050792"/>
            <a:ext cx="17007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F24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상태 관리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468880" y="4050792"/>
            <a:ext cx="4434840" cy="566928"/>
          </a:xfrm>
          <a:prstGeom prst="rect">
            <a:avLst/>
          </a:prstGeom>
          <a:solidFill>
            <a:srgbClr val="F5F6F8"/>
          </a:solidFill>
          <a:ln w="9525">
            <a:solidFill>
              <a:srgbClr val="E3E5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78608" y="4050792"/>
            <a:ext cx="42153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5F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단일 컨텍스트 누적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903720" y="4050792"/>
            <a:ext cx="4434840" cy="566928"/>
          </a:xfrm>
          <a:prstGeom prst="rect">
            <a:avLst/>
          </a:prstGeom>
          <a:solidFill>
            <a:srgbClr val="F5F6F8"/>
          </a:solidFill>
          <a:ln w="9525">
            <a:solidFill>
              <a:srgbClr val="E3E5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13448" y="4050792"/>
            <a:ext cx="42153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15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노드별 격리 + 공유 State 스키마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4617720"/>
            <a:ext cx="1920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5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8368" y="4617720"/>
            <a:ext cx="17007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F24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실패 격리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468880" y="4617720"/>
            <a:ext cx="4434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5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78608" y="4617720"/>
            <a:ext cx="42153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5F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컨텍스트 전체 오염 위험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903720" y="4617720"/>
            <a:ext cx="4434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5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013448" y="4617720"/>
            <a:ext cx="42153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15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서브그래프 단위 격리 가능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48640" y="5184648"/>
            <a:ext cx="1920240" cy="566928"/>
          </a:xfrm>
          <a:prstGeom prst="rect">
            <a:avLst/>
          </a:prstGeom>
          <a:solidFill>
            <a:srgbClr val="F5F6F8"/>
          </a:solidFill>
          <a:ln w="9525">
            <a:solidFill>
              <a:srgbClr val="E3E5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8368" y="5184648"/>
            <a:ext cx="17007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F24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적합 사례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468880" y="5184648"/>
            <a:ext cx="4434840" cy="566928"/>
          </a:xfrm>
          <a:prstGeom prst="rect">
            <a:avLst/>
          </a:prstGeom>
          <a:solidFill>
            <a:srgbClr val="F5F6F8"/>
          </a:solidFill>
          <a:ln w="9525">
            <a:solidFill>
              <a:srgbClr val="E3E5E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578608" y="5184648"/>
            <a:ext cx="42153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5F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단일 목표 + 명확한 검증기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903720" y="5184648"/>
            <a:ext cx="4434840" cy="566928"/>
          </a:xfrm>
          <a:prstGeom prst="rect">
            <a:avLst/>
          </a:prstGeom>
          <a:solidFill>
            <a:srgbClr val="F5F6F8"/>
          </a:solidFill>
          <a:ln w="9525">
            <a:solidFill>
              <a:srgbClr val="E3E5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013448" y="5184648"/>
            <a:ext cx="42153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15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핸드오프·리뷰·병렬 조사가 필요한 작업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48640" y="5916168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5F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핵심: "그래프는 루프를 포함한다" — 노드 하나가 자신에게 돌아가면 루프, 전문화 노드+라우팅이 붙으면 그래프.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0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AI Builder Club — Graph vs Loop: Which Should Your Agent Use?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15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· STRUCTURE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구조 비교: 단일 루프 vs 그래프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257800" cy="4160520"/>
          </a:xfrm>
          <a:prstGeom prst="roundRect">
            <a:avLst>
              <a:gd name="adj" fmla="val 2198"/>
            </a:avLst>
          </a:prstGeom>
          <a:solidFill>
            <a:srgbClr val="F5F6F8"/>
          </a:solidFill>
          <a:ln w="12700">
            <a:solidFill>
              <a:srgbClr val="E3E5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65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5F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단일 루프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0" y="2606040"/>
            <a:ext cx="1280160" cy="1280160"/>
          </a:xfrm>
          <a:prstGeom prst="ellipse">
            <a:avLst/>
          </a:prstGeom>
          <a:solidFill>
            <a:srgbClr val="1F2430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260604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06240" y="2880360"/>
            <a:ext cx="1234440" cy="731520"/>
          </a:xfrm>
          <a:prstGeom prst="roundRect">
            <a:avLst>
              <a:gd name="adj" fmla="val 7500"/>
            </a:avLst>
          </a:prstGeom>
          <a:solidFill>
            <a:srgbClr val="F2A541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0" y="2880360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Tool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566160" y="2743200"/>
            <a:ext cx="640080" cy="137160"/>
          </a:xfrm>
          <a:prstGeom prst="bentConnector3">
            <a:avLst/>
          </a:prstGeom>
          <a:noFill/>
          <a:ln w="19050">
            <a:solidFill>
              <a:srgbClr val="5A5F6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 flipH="1" flipV="1">
            <a:off x="3566160" y="3246120"/>
            <a:ext cx="640080" cy="137160"/>
          </a:xfrm>
          <a:prstGeom prst="bentConnector3">
            <a:avLst/>
          </a:prstGeom>
          <a:noFill/>
          <a:ln w="19050">
            <a:solidFill>
              <a:srgbClr val="5A5F6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14400" y="3017520"/>
            <a:ext cx="100584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B909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01752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5F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종료 조건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920240" y="3154680"/>
            <a:ext cx="365760" cy="91440"/>
          </a:xfrm>
          <a:prstGeom prst="bentConnector3">
            <a:avLst/>
          </a:prstGeom>
          <a:noFill/>
          <a:ln w="15875">
            <a:solidFill>
              <a:srgbClr val="8B909C"/>
            </a:solidFill>
            <a:prstDash val="dash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822960" y="4480560"/>
            <a:ext cx="4709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5F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하나의 에이전트가 자기 자신으로 되먹임 — 검증기와 정지 조건이 핵심 관심사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35040" y="1783080"/>
            <a:ext cx="5577840" cy="4160520"/>
          </a:xfrm>
          <a:prstGeom prst="roundRect">
            <a:avLst>
              <a:gd name="adj" fmla="val 2198"/>
            </a:avLst>
          </a:prstGeom>
          <a:solidFill>
            <a:srgbClr val="1F2430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1965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5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그래프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92240" y="2880360"/>
            <a:ext cx="1051560" cy="594360"/>
          </a:xfrm>
          <a:prstGeom prst="roundRect">
            <a:avLst>
              <a:gd name="adj" fmla="val 10769"/>
            </a:avLst>
          </a:prstGeom>
          <a:solidFill>
            <a:srgbClr val="F2A541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2880360"/>
            <a:ext cx="1051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4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Router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0" y="2423160"/>
            <a:ext cx="1051560" cy="594360"/>
          </a:xfrm>
          <a:prstGeom prst="roundRect">
            <a:avLst>
              <a:gd name="adj" fmla="val 10769"/>
            </a:avLst>
          </a:prstGeom>
          <a:solidFill>
            <a:srgbClr val="3A4051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0" y="2423160"/>
            <a:ext cx="1051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 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229600" y="3337560"/>
            <a:ext cx="1051560" cy="594360"/>
          </a:xfrm>
          <a:prstGeom prst="roundRect">
            <a:avLst>
              <a:gd name="adj" fmla="val 10769"/>
            </a:avLst>
          </a:prstGeom>
          <a:solidFill>
            <a:srgbClr val="3A4051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0" y="3337560"/>
            <a:ext cx="1051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 B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966960" y="2880360"/>
            <a:ext cx="1188720" cy="594360"/>
          </a:xfrm>
          <a:prstGeom prst="roundRect">
            <a:avLst>
              <a:gd name="adj" fmla="val 10769"/>
            </a:avLst>
          </a:prstGeom>
          <a:solidFill>
            <a:srgbClr val="E15530"/>
          </a:solidFill>
          <a:ln/>
        </p:spPr>
      </p:sp>
      <p:sp>
        <p:nvSpPr>
          <p:cNvPr id="25" name="Text 23"/>
          <p:cNvSpPr/>
          <p:nvPr/>
        </p:nvSpPr>
        <p:spPr>
          <a:xfrm>
            <a:off x="9966960" y="2880360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품질 Gate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 flipV="1">
            <a:off x="7543800" y="2697480"/>
            <a:ext cx="685800" cy="36576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543800" y="3246120"/>
            <a:ext cx="685800" cy="36576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281160" y="2697480"/>
            <a:ext cx="685800" cy="36576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 flipV="1">
            <a:off x="9281160" y="3246120"/>
            <a:ext cx="685800" cy="36576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6309360" y="4480560"/>
            <a:ext cx="5074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9CD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여러 전문화 노드 + 라우팅/병렬 실행 + 거부권(veto) 게이트를 명시적 엣지로 정의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0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AI Builder Club / Louis Bouchard — "그래프는 루프를 포함한다"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15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· PROTOTYPE PATTERNS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아키텍처 원형 — 5가지 워크플로 패턴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5F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Anthropic "Building Effective Agents" (2024) — 그래프 엔지니어링 논쟁에서 가장 자주 인용되는 선행 사례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2084832" cy="3337560"/>
          </a:xfrm>
          <a:prstGeom prst="roundRect">
            <a:avLst>
              <a:gd name="adj" fmla="val 3947"/>
            </a:avLst>
          </a:prstGeom>
          <a:solidFill>
            <a:srgbClr val="F5F6F8"/>
          </a:solidFill>
          <a:ln w="12700">
            <a:solidFill>
              <a:srgbClr val="E3E5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194560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15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606040"/>
            <a:ext cx="18105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F24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프롬프트 체이닝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85800" y="3337560"/>
            <a:ext cx="18105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A5F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순차 LLM 호출 + 단계별 점검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4389120"/>
            <a:ext cx="1810512" cy="0"/>
          </a:xfrm>
          <a:prstGeom prst="line">
            <a:avLst/>
          </a:prstGeom>
          <a:noFill/>
          <a:ln w="9525">
            <a:solidFill>
              <a:srgbClr val="E3E5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4507992"/>
            <a:ext cx="18105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8B90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번역, 문서 생성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52344" y="2057400"/>
            <a:ext cx="2084832" cy="3337560"/>
          </a:xfrm>
          <a:prstGeom prst="roundRect">
            <a:avLst>
              <a:gd name="adj" fmla="val 3947"/>
            </a:avLst>
          </a:prstGeom>
          <a:solidFill>
            <a:srgbClr val="F5F6F8"/>
          </a:solidFill>
          <a:ln w="12700">
            <a:solidFill>
              <a:srgbClr val="E3E5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89504" y="2194560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15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889504" y="2606040"/>
            <a:ext cx="18105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F24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라우팅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889504" y="3337560"/>
            <a:ext cx="18105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A5F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입력 분류 후 전문 프롬프트로 분기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889504" y="4389120"/>
            <a:ext cx="1810512" cy="0"/>
          </a:xfrm>
          <a:prstGeom prst="line">
            <a:avLst/>
          </a:prstGeom>
          <a:noFill/>
          <a:ln w="9525">
            <a:solidFill>
              <a:srgbClr val="E3E5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89504" y="4507992"/>
            <a:ext cx="18105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8B90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카테고리가 명확한 고객 문의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956048" y="2057400"/>
            <a:ext cx="2084832" cy="3337560"/>
          </a:xfrm>
          <a:prstGeom prst="roundRect">
            <a:avLst>
              <a:gd name="adj" fmla="val 3947"/>
            </a:avLst>
          </a:prstGeom>
          <a:solidFill>
            <a:srgbClr val="F5F6F8"/>
          </a:solidFill>
          <a:ln w="12700">
            <a:solidFill>
              <a:srgbClr val="E3E5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93208" y="2194560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15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93208" y="2606040"/>
            <a:ext cx="18105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F24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병렬화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093208" y="3337560"/>
            <a:ext cx="18105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A5F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sectioning(분할) / voting(합의)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93208" y="4389120"/>
            <a:ext cx="1810512" cy="0"/>
          </a:xfrm>
          <a:prstGeom prst="line">
            <a:avLst/>
          </a:prstGeom>
          <a:noFill/>
          <a:ln w="9525">
            <a:solidFill>
              <a:srgbClr val="E3E5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93208" y="4507992"/>
            <a:ext cx="18105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8B90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속도가 중요한 작업, 코드 리뷰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159752" y="2057400"/>
            <a:ext cx="2084832" cy="3337560"/>
          </a:xfrm>
          <a:prstGeom prst="roundRect">
            <a:avLst>
              <a:gd name="adj" fmla="val 3947"/>
            </a:avLst>
          </a:prstGeom>
          <a:solidFill>
            <a:srgbClr val="F5F6F8"/>
          </a:solidFill>
          <a:ln w="12700">
            <a:solidFill>
              <a:srgbClr val="E3E5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96912" y="2194560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15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296912" y="2606040"/>
            <a:ext cx="18105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F24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오케스트레이터-워커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296912" y="3337560"/>
            <a:ext cx="18105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A5F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실행 시점에 동적 작업 분해·위임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296912" y="4389120"/>
            <a:ext cx="1810512" cy="0"/>
          </a:xfrm>
          <a:prstGeom prst="line">
            <a:avLst/>
          </a:prstGeom>
          <a:noFill/>
          <a:ln w="9525">
            <a:solidFill>
              <a:srgbClr val="E3E5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96912" y="4507992"/>
            <a:ext cx="18105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8B90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하위 작업 예측 불가한 코딩/리서치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363456" y="2057400"/>
            <a:ext cx="2084832" cy="3337560"/>
          </a:xfrm>
          <a:prstGeom prst="roundRect">
            <a:avLst>
              <a:gd name="adj" fmla="val 3947"/>
            </a:avLst>
          </a:prstGeom>
          <a:solidFill>
            <a:srgbClr val="1F2430"/>
          </a:solidFill>
          <a:ln/>
        </p:spPr>
      </p:sp>
      <p:sp>
        <p:nvSpPr>
          <p:cNvPr id="30" name="Text 28"/>
          <p:cNvSpPr/>
          <p:nvPr/>
        </p:nvSpPr>
        <p:spPr>
          <a:xfrm>
            <a:off x="9500616" y="2194560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5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500616" y="2606040"/>
            <a:ext cx="18105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평가자-최적화자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9500616" y="3337560"/>
            <a:ext cx="18105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9CD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생성자-평가자 루프 반복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500616" y="4389120"/>
            <a:ext cx="1810512" cy="0"/>
          </a:xfrm>
          <a:prstGeom prst="line">
            <a:avLst/>
          </a:prstGeom>
          <a:noFill/>
          <a:ln w="9525">
            <a:solidFill>
              <a:srgbClr val="3A405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500616" y="4507992"/>
            <a:ext cx="18105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F2A5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명확한 평가 기준 + 반복 개선 가치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48640" y="55321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15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Anthropic 결론: "가장 성공적인 구현은 복잡한 프레임워크가 아니라 단순하고 조합 가능한 패턴을 사용한다."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0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Anthropic — Building Effective Agents (2024)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2A5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· GOVERNANCE LAYERS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4계층 감시 루프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AA0A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작업 그래프(work graph) 위에 층을 이루는 네 종류의 감시 루프 (Eigent, 2026)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257800" cy="1691640"/>
          </a:xfrm>
          <a:prstGeom prst="roundRect">
            <a:avLst>
              <a:gd name="adj" fmla="val 4865"/>
            </a:avLst>
          </a:prstGeom>
          <a:solidFill>
            <a:srgbClr val="2A3040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31720"/>
            <a:ext cx="685800" cy="685800"/>
          </a:xfrm>
          <a:prstGeom prst="ellipse">
            <a:avLst/>
          </a:prstGeom>
          <a:solidFill>
            <a:srgbClr val="E15530"/>
          </a:solidFill>
          <a:ln/>
        </p:spPr>
      </p:sp>
      <p:pic>
        <p:nvPicPr>
          <p:cNvPr id="7" name="Image 0" descr="icons/FaChartBar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2487168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2313432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(Operational)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691640" y="2715768"/>
            <a:ext cx="3886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9CD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작업별 성공률, 지연시간, 비용, 리소스 사용량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172200" y="2057400"/>
            <a:ext cx="5257800" cy="1691640"/>
          </a:xfrm>
          <a:prstGeom prst="roundRect">
            <a:avLst>
              <a:gd name="adj" fmla="val 4865"/>
            </a:avLst>
          </a:prstGeom>
          <a:solidFill>
            <a:srgbClr val="2A3040"/>
          </a:solidFill>
          <a:ln/>
        </p:spPr>
      </p:sp>
      <p:sp>
        <p:nvSpPr>
          <p:cNvPr id="11" name="Shape 8"/>
          <p:cNvSpPr/>
          <p:nvPr/>
        </p:nvSpPr>
        <p:spPr>
          <a:xfrm>
            <a:off x="6446520" y="2331720"/>
            <a:ext cx="685800" cy="68580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12" name="Image 1" descr="icons/FaCheckCircl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968" y="2487168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15200" y="2313432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품질 (Quality)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7315200" y="2715768"/>
            <a:ext cx="3886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9CD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사람/자동 평가 점수, 오류율, 안전성 검사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4069080"/>
            <a:ext cx="5257800" cy="1691640"/>
          </a:xfrm>
          <a:prstGeom prst="roundRect">
            <a:avLst>
              <a:gd name="adj" fmla="val 4865"/>
            </a:avLst>
          </a:prstGeom>
          <a:solidFill>
            <a:srgbClr val="2A3040"/>
          </a:solidFill>
          <a:ln/>
        </p:spPr>
      </p:sp>
      <p:sp>
        <p:nvSpPr>
          <p:cNvPr id="16" name="Shape 12"/>
          <p:cNvSpPr/>
          <p:nvPr/>
        </p:nvSpPr>
        <p:spPr>
          <a:xfrm>
            <a:off x="822960" y="4343400"/>
            <a:ext cx="685800" cy="685800"/>
          </a:xfrm>
          <a:prstGeom prst="ellipse">
            <a:avLst/>
          </a:prstGeom>
          <a:solidFill>
            <a:srgbClr val="E15530"/>
          </a:solidFill>
          <a:ln/>
        </p:spPr>
      </p:sp>
      <p:pic>
        <p:nvPicPr>
          <p:cNvPr id="17" name="Image 2" descr="icons/FaShieldAlt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4498848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91640" y="4325112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거버넌스 (Governance)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1691640" y="4727448"/>
            <a:ext cx="3886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9CD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목표치 설정 주체, 임계값 조정 권한, 변경 배포 시점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172200" y="4069080"/>
            <a:ext cx="5257800" cy="1691640"/>
          </a:xfrm>
          <a:prstGeom prst="roundRect">
            <a:avLst>
              <a:gd name="adj" fmla="val 4865"/>
            </a:avLst>
          </a:prstGeom>
          <a:solidFill>
            <a:srgbClr val="2A3040"/>
          </a:solidFill>
          <a:ln/>
        </p:spPr>
      </p:sp>
      <p:sp>
        <p:nvSpPr>
          <p:cNvPr id="21" name="Shape 16"/>
          <p:cNvSpPr/>
          <p:nvPr/>
        </p:nvSpPr>
        <p:spPr>
          <a:xfrm>
            <a:off x="6446520" y="4343400"/>
            <a:ext cx="685800" cy="68580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22" name="Image 3" descr="icons/FaClipboardCheck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968" y="4498848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315200" y="4325112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감사 (Audit)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7315200" y="4727448"/>
            <a:ext cx="3886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9CD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지표가 여전히 실제 비즈니스 성과와 상관관계를 갖는지 주기 점검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0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Eigent — Graph Engineering for AI Agents (2026)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15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· TOPOLOGIES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멀티에이전트 토폴로지 개관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20440" cy="3977640"/>
          </a:xfrm>
          <a:prstGeom prst="roundRect">
            <a:avLst>
              <a:gd name="adj" fmla="val 2597"/>
            </a:avLst>
          </a:prstGeom>
          <a:solidFill>
            <a:srgbClr val="F5F6F8"/>
          </a:solidFill>
          <a:ln w="12700">
            <a:solidFill>
              <a:srgbClr val="E3E5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97380" y="2194560"/>
            <a:ext cx="822960" cy="822960"/>
          </a:xfrm>
          <a:prstGeom prst="ellipse">
            <a:avLst/>
          </a:prstGeom>
          <a:solidFill>
            <a:srgbClr val="1F2430"/>
          </a:solidFill>
          <a:ln/>
        </p:spPr>
      </p:sp>
      <p:pic>
        <p:nvPicPr>
          <p:cNvPr id="6" name="Image 0" descr="icons/FaRoute_E1553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9404" y="238658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20040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라우터 (Router)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1097280" y="3703320"/>
            <a:ext cx="2423160" cy="0"/>
          </a:xfrm>
          <a:prstGeom prst="line">
            <a:avLst/>
          </a:prstGeom>
          <a:noFill/>
          <a:ln w="25400">
            <a:solidFill>
              <a:srgbClr val="E1553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384048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F24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단일 분류 단계가 정적으로 디스패치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22960" y="466344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A5F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대화 이력 미유지. 입력 카테고리가 명확할 때 적합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343400" y="1874520"/>
            <a:ext cx="3520440" cy="3977640"/>
          </a:xfrm>
          <a:prstGeom prst="roundRect">
            <a:avLst>
              <a:gd name="adj" fmla="val 2597"/>
            </a:avLst>
          </a:prstGeom>
          <a:solidFill>
            <a:srgbClr val="F5F6F8"/>
          </a:solidFill>
          <a:ln w="12700">
            <a:solidFill>
              <a:srgbClr val="E3E5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692140" y="2194560"/>
            <a:ext cx="822960" cy="822960"/>
          </a:xfrm>
          <a:prstGeom prst="ellipse">
            <a:avLst/>
          </a:prstGeom>
          <a:solidFill>
            <a:srgbClr val="1F2430"/>
          </a:solidFill>
          <a:ln/>
        </p:spPr>
      </p:sp>
      <p:pic>
        <p:nvPicPr>
          <p:cNvPr id="13" name="Image 1" descr="icons/FaUsers_F2A54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4164" y="2386584"/>
            <a:ext cx="438912" cy="4389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26280" y="320040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슈퍼바이저 (Supervisor)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4892040" y="3703320"/>
            <a:ext cx="2423160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617720" y="384048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F24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중앙 에이전트가 매 턴 동적으로 결정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4617720" y="466344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A5F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8~12회 왕복 후 라우팅 정확도 저하 경향 보고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8138160" y="1874520"/>
            <a:ext cx="3520440" cy="3977640"/>
          </a:xfrm>
          <a:prstGeom prst="roundRect">
            <a:avLst>
              <a:gd name="adj" fmla="val 2597"/>
            </a:avLst>
          </a:prstGeom>
          <a:solidFill>
            <a:srgbClr val="F5F6F8"/>
          </a:solidFill>
          <a:ln w="12700">
            <a:solidFill>
              <a:srgbClr val="E3E5E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9486900" y="2194560"/>
            <a:ext cx="822960" cy="822960"/>
          </a:xfrm>
          <a:prstGeom prst="ellipse">
            <a:avLst/>
          </a:prstGeom>
          <a:solidFill>
            <a:srgbClr val="1F2430"/>
          </a:solidFill>
          <a:ln/>
        </p:spPr>
      </p:sp>
      <p:pic>
        <p:nvPicPr>
          <p:cNvPr id="20" name="Image 2" descr="icons/FaProjectDiagram_5A5F6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8924" y="2386584"/>
            <a:ext cx="438912" cy="43891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321040" y="320040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스웜 (Swarm)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8686800" y="3703320"/>
            <a:ext cx="2423160" cy="0"/>
          </a:xfrm>
          <a:prstGeom prst="line">
            <a:avLst/>
          </a:prstGeom>
          <a:noFill/>
          <a:ln w="25400">
            <a:solidFill>
              <a:srgbClr val="5A5F6B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8412480" y="384048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F24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중앙 없이 에이전트 간 직접 핸드오프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8412480" y="466344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A5F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마지막 활성 에이전트를 기억해 다음 턴에 이어감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0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Docs by LangChain — Router / Augment Code — Swarm vs. Supervisor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15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· DECISION FRAMEWORK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루프에서 그래프로 — 승격 판단 기준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5F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"루프로 시작해서, 필요해질 때만 그래프로 승격하라" — AI Builder Club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F5F6F8"/>
          </a:solidFill>
          <a:ln w="12700">
            <a:solidFill>
              <a:srgbClr val="E3E5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313432"/>
            <a:ext cx="457200" cy="457200"/>
          </a:xfrm>
          <a:prstGeom prst="ellipse">
            <a:avLst/>
          </a:prstGeom>
          <a:solidFill>
            <a:srgbClr val="E1553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3134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17320" y="2148840"/>
            <a:ext cx="9784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서로 다른 역할(리뷰어, 병렬 조사자, 거부권을 가진 검사자)이 필요한가?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081528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F5F6F8"/>
          </a:solidFill>
          <a:ln w="12700">
            <a:solidFill>
              <a:srgbClr val="E3E5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3246120"/>
            <a:ext cx="457200" cy="457200"/>
          </a:xfrm>
          <a:prstGeom prst="ellipse">
            <a:avLst/>
          </a:prstGeom>
          <a:solidFill>
            <a:srgbClr val="E15530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17320" y="3081528"/>
            <a:ext cx="9784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일부 단계를 병렬로 실행해 지연시간을 줄일 필요가 있는가?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014216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F5F6F8"/>
          </a:solidFill>
          <a:ln w="12700">
            <a:solidFill>
              <a:srgbClr val="E3E5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4178808"/>
            <a:ext cx="457200" cy="457200"/>
          </a:xfrm>
          <a:prstGeom prst="ellipse">
            <a:avLst/>
          </a:prstGeom>
          <a:solidFill>
            <a:srgbClr val="E15530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178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417320" y="4014216"/>
            <a:ext cx="9784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노드가 다른 노드의 컨텍스트를 오염시키지 않도록 격리가 필요한가?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946904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F5F6F8"/>
          </a:solidFill>
          <a:ln w="12700">
            <a:solidFill>
              <a:srgbClr val="E3E5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5111496"/>
            <a:ext cx="457200" cy="457200"/>
          </a:xfrm>
          <a:prstGeom prst="ellipse">
            <a:avLst/>
          </a:prstGeom>
          <a:solidFill>
            <a:srgbClr val="E15530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51114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417320" y="4946904"/>
            <a:ext cx="9784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노드가 다음 노드에 정확히 무엇을 넘기는지 명확히 정의할 수 있는가?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594360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E15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하나라도 "아니오"라면, 아직 단일 루프로 충분할 가능성이 높다.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0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AI Builder Club — Agent Graph vs Loop: When to Use Which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F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2A5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· ANTI-PATTERN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2011680"/>
            <a:ext cx="1188720" cy="1188720"/>
          </a:xfrm>
          <a:prstGeom prst="ellipse">
            <a:avLst/>
          </a:prstGeom>
          <a:solidFill>
            <a:srgbClr val="E15530"/>
          </a:solidFill>
          <a:ln/>
        </p:spPr>
      </p:sp>
      <p:pic>
        <p:nvPicPr>
          <p:cNvPr id="4" name="Image 0" descr="icons/FaBan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33172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011680" y="1965960"/>
            <a:ext cx="9418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"밈에 대응한다고 40개짜리 에이전트 그래프를</a:t>
            </a:r>
            <a:endParaRPr lang="en-US" sz="2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밤새 돌리지 말 것."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2011680" y="324612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D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과도하게 큰 그래프는 토큰 예산만 소모하고 실질적 진전은 거의 만들어내지 못하는 경우가 많다.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2011680" y="41605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5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2423160" y="4178808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 가능한 단일 반복 작업으로 시작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2011680" y="4690872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5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2423160" y="470916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상태를 눈으로 확인할 수 있는 UI/지표 확보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2011680" y="5221224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5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2423160" y="5239512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실패 양상을 충분히 이해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2011680" y="5751576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5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423160" y="5769864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그때만 리뷰어·병렬 분기·보안 검사를 추가해 그래프로 성장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0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Louis Bouchard — Graph Engineering vs Loop Engineering: What Actually Changed (2026)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15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공통된 결론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64240" cy="1920240"/>
          </a:xfrm>
          <a:prstGeom prst="roundRect">
            <a:avLst>
              <a:gd name="adj" fmla="val 4762"/>
            </a:avLst>
          </a:prstGeom>
          <a:solidFill>
            <a:srgbClr val="F5F6F8"/>
          </a:solidFill>
          <a:ln w="12700">
            <a:solidFill>
              <a:srgbClr val="E3E5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03120"/>
            <a:ext cx="10332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900" b="1" dirty="0">
                <a:solidFill>
                  <a:srgbClr val="1F24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아키텍처 선택은 유행하는 용어가 아니라 </a:t>
            </a:r>
            <a:pPr indent="0" marL="0">
              <a:lnSpc>
                <a:spcPct val="135000"/>
              </a:lnSpc>
              <a:buNone/>
            </a:pPr>
            <a:r>
              <a:rPr lang="en-US" sz="1900" b="1" dirty="0">
                <a:solidFill>
                  <a:srgbClr val="E15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문제의 구조</a:t>
            </a:r>
            <a:pPr indent="0" marL="0">
              <a:lnSpc>
                <a:spcPct val="135000"/>
              </a:lnSpc>
              <a:buNone/>
            </a:pPr>
            <a:r>
              <a:rPr lang="en-US" sz="1900" b="1" dirty="0">
                <a:solidFill>
                  <a:srgbClr val="1F24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(병렬성 필요 여부, 역할 분리 필요 여부, 검증 가능성)</a:t>
            </a:r>
            <a:pPr indent="0" marL="0">
              <a:lnSpc>
                <a:spcPct val="135000"/>
              </a:lnSpc>
              <a:buNone/>
            </a:pPr>
            <a:r>
              <a:rPr lang="en-US" sz="1900" b="1" dirty="0">
                <a:solidFill>
                  <a:srgbClr val="1F24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 의해 결정되어야 한다.</a:t>
            </a:r>
            <a:endParaRPr lang="en-US" sz="1900" dirty="0"/>
          </a:p>
        </p:txBody>
      </p:sp>
      <p:pic>
        <p:nvPicPr>
          <p:cNvPr id="6" name="Image 0" descr="icons/FaLayerGroup_E1553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160520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466344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4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그래프는 루프를 포함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48640" y="5056632"/>
            <a:ext cx="3520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A5F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루프 엔지니어링과 그래프 엔지니어링은 대립이 아니라 층위의 차이</a:t>
            </a:r>
            <a:endParaRPr lang="en-US" sz="1100" dirty="0"/>
          </a:p>
        </p:txBody>
      </p:sp>
      <p:pic>
        <p:nvPicPr>
          <p:cNvPr id="9" name="Image 1" descr="icons/FaBook_E1553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4160520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343400" y="466344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4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이름보다 실체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4343400" y="5056632"/>
            <a:ext cx="3520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A5F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"그래프 엔지니어링"이라는 이름보다 상태 관리·체크포인팅·라우팅이라는 도구가 실체</a:t>
            </a:r>
            <a:endParaRPr lang="en-US" sz="1100" dirty="0"/>
          </a:p>
        </p:txBody>
      </p:sp>
      <p:pic>
        <p:nvPicPr>
          <p:cNvPr id="12" name="Image 2" descr="icons/FaCheckCircle_E1553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4160520"/>
            <a:ext cx="384048" cy="38404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138160" y="466344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4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작게 시작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8138160" y="5056632"/>
            <a:ext cx="3520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A5F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단일 루프로 시작해 4가지 승격 신호가 나타날 때만 그래프로 확장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0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그래프 엔지니어링 — 개념 정리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0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F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2A5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참고문헌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15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160020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9CD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TrueFoundry — Graph Engineering for Multi-Agent Systems (2026)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216712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15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2167128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9CD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explainx.ai — Graphs vs. Loops: Agentic AI Orchestration Debate 2026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734056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15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2734056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9CD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Louis Bouchard — Graph Engineering vs Loop Engineering: What Actually Changed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3300984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15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3300984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9CD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Eigent — Graph Engineering for AI Agents (2026)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386791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15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4400" y="3867912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9CD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AQE Digital — Loop Engineering vs Graph Engineering: A Decision Framework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443484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15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14400" y="443484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9CD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Builder Club — Graph Engineering vs Loop Engineering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500176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15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4400" y="5001768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9CD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Builder Club — Graph vs Loop: Which Should Your Agent Use?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5568696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15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14400" y="5568696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9CD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Oracle Developers Blog — What Is the AI Agent Loop?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17920" y="160020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15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583680" y="160020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9CD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MindStudio — What Is the ReAct Loop?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17920" y="216712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15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83680" y="2167128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9CD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AI Engineer (Substack) — ReAct vs Plan-and-Execute vs ReWOO vs Reflexion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17920" y="2734056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15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583680" y="2734056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9CD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arXiv — SemaClaw: Harness Engineering (Yao et al. 2023 ReAct 인용)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17920" y="3300984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15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583680" y="3300984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9CD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Data Science Dojo — Agentic loops explained: From ReAct to loop engineering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17920" y="386791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15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583680" y="3867912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9CD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Docs by LangChain — Router (multi-agent)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17920" y="443484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15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583680" y="443484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9CD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Augment Code — Swarm vs. Supervisor: Multi-Agent Architecture Guide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17920" y="500176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15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583680" y="5001768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9CD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Anthropic — Building Effective Agents (2024)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0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작성일: 2026-08-23 · 모든 서술은 공개 출처에 근거함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2026-08-23T08:11:31Z</dcterms:created>
  <dcterms:modified xsi:type="dcterms:W3CDTF">2026-08-23T08:11:31Z</dcterms:modified>
</cp:coreProperties>
</file>