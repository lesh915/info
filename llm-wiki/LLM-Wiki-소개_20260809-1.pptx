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3" r:id="rId22"/>
    <p:sldId id="271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  <Relationship Id="rId22" Type="http://schemas.openxmlformats.org/officeDocument/2006/relationships/slide" Target="slides/slide16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7894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2026년 4월 Karpathy가 공개한 llm-wiki.md 아이디어 문서를 출발점으로, 국내 커뮤니티 논의와 실제 구현체까지 정리한 자료.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Ingest는 한 건씩 관여하며 처리할 수도, 일괄 처리할 수도 있음. Lint는 주기적으로 실행.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81744" y="1517904"/>
            <a:ext cx="1280160" cy="6400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9015984" y="1517904"/>
            <a:ext cx="365760" cy="141732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61904" y="2157984"/>
            <a:ext cx="365760" cy="146304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15984" y="2935224"/>
            <a:ext cx="731520" cy="13258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9747504" y="3621024"/>
            <a:ext cx="1280160" cy="6400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47504" y="4261104"/>
            <a:ext cx="1554480" cy="68580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9198864" y="4261104"/>
            <a:ext cx="548640" cy="109728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015984" y="2935224"/>
            <a:ext cx="182880" cy="2423160"/>
          </a:xfrm>
          <a:prstGeom prst="line">
            <a:avLst/>
          </a:prstGeom>
          <a:noFill/>
          <a:ln w="12700">
            <a:solidFill>
              <a:srgbClr val="6274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99448" y="143560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10611612" y="210769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5692" y="288493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77372" y="357073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4" name="Shape 12"/>
          <p:cNvSpPr/>
          <p:nvPr/>
        </p:nvSpPr>
        <p:spPr>
          <a:xfrm>
            <a:off x="9665208" y="4178808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51692" y="489661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8572" y="5308092"/>
            <a:ext cx="100584" cy="100584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15544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KNOWLEDGE PATTERN · 2026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8368" y="1920240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Wiki</a:t>
            </a:r>
            <a:endParaRPr lang="en-US" sz="6200" dirty="0"/>
          </a:p>
        </p:txBody>
      </p:sp>
      <p:sp>
        <p:nvSpPr>
          <p:cNvPr id="19" name="Text 17"/>
          <p:cNvSpPr/>
          <p:nvPr/>
        </p:nvSpPr>
        <p:spPr>
          <a:xfrm>
            <a:off x="658368" y="3035808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40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직접 쓰고 관리하는</a:t>
            </a:r>
            <a:endParaRPr lang="en-US" sz="24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240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영속적 개인 지식 베이스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" y="46634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Andrej Karpathy의 llm-wiki.md 아이디어 문서와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국내 커뮤니티(GeekNews · PyTorchKR · 위키독스) 논의 정리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AGENDA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69264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지금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주목받는가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RAG로는 지식이 쌓이지 않는다는 문제 의식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67862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78758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778758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아이디어와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78758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검색이 아니라 컴파일 · 3계층 아키텍처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7356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8252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88252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방식과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8252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 / Query / Lint 와 생태계 구현체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86850" y="1783080"/>
            <a:ext cx="2443734" cy="3977640"/>
          </a:xfrm>
          <a:prstGeom prst="roundRect">
            <a:avLst>
              <a:gd name="adj" fmla="val 2993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97746" y="2048256"/>
            <a:ext cx="182194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CDD5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9397746" y="2926080"/>
            <a:ext cx="182194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한계와</a:t>
            </a:r>
            <a:endParaRPr lang="en-US" sz="180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도입 전략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397746" y="4041648"/>
            <a:ext cx="182194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굴려본 사람들이 만난 벽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· 문제 정의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대화는 끝나고, 지식은 남지 않는다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517904"/>
            <a:ext cx="108722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대부분의 문서 활용 방식은 RAG입니다. 파일을 올리면 질문할 때마다 관련 청크를 찾아 답을 만듭니다.</a:t>
            </a:r>
            <a:endParaRPr lang="en-US" sz="15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5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동작은 하지만, LLM은 매 질문마다 지식을 처음부터 다시 발견합니다.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651760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" y="307238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7" name="Text 5"/>
          <p:cNvSpPr/>
          <p:nvPr/>
        </p:nvSpPr>
        <p:spPr>
          <a:xfrm>
            <a:off x="969264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72768" y="288950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누적이 없다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572768" y="329184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이전에 분석한 결과가 다음 질문에 쓰이지 않는다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2651760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65392" y="307238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2" name="Text 10"/>
          <p:cNvSpPr/>
          <p:nvPr/>
        </p:nvSpPr>
        <p:spPr>
          <a:xfrm>
            <a:off x="6565392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68896" y="2889504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 참조가 없다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168896" y="3291840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5개 문서를 종합해야 하는 질문에 매번 조각을 다시 짜맞춘다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133088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9264" y="45537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72768" y="437083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모순을 모른다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572768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자료가 옛 주장을 뒤집어도 아무도 표시하지 않는다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54496" y="4133088"/>
            <a:ext cx="527608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65392" y="45537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4553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8896" y="437083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맥락을 다시 쓴다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168896" y="4773168"/>
            <a:ext cx="4041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용어, 보고서 형식, 금지 표현을 매 대화창마다 재설명한다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5806440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결과적으로 좋은 답변이 일회성으로 끝납니다. NotebookLM, ChatGPT 파일 업로드, 대부분의 RAG 시스템이 이 구조입니다.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핵심 아이디어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검색(Retrieve)이 아니라 컴파일(Compile)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27632"/>
            <a:ext cx="108722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800"/>
              </a:lnSpc>
              <a:buNone/>
            </a:pPr>
            <a:r>
              <a:rPr lang="en-US" sz="15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질의 시점에 원문을 뒤지는 대신, 구조화되고 서로 연결된 마크다운 위키를</a:t>
            </a:r>
            <a:endParaRPr lang="en-US" sz="1550" dirty="0"/>
          </a:p>
          <a:p>
            <a:pPr marL="0" indent="0">
              <a:lnSpc>
                <a:spcPts val="2800"/>
              </a:lnSpc>
              <a:buNone/>
            </a:pPr>
            <a:r>
              <a:rPr lang="en-US" sz="15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점진적으로 만들고 계속 유지합니다. 지식은 한 번 컴파일되고, 이후에는 최신 상태로 관리됩니다.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58368" y="2497528"/>
            <a:ext cx="3380232" cy="2048256"/>
          </a:xfrm>
          <a:prstGeom prst="roundRect">
            <a:avLst>
              <a:gd name="adj" fmla="val 3200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726128"/>
            <a:ext cx="272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PERSISTENT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87552" y="3046168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영속성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87552" y="3677104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대화 기록이 아니라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파일로 남는다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04360" y="2497528"/>
            <a:ext cx="3380232" cy="2048256"/>
          </a:xfrm>
          <a:prstGeom prst="roundRect">
            <a:avLst>
              <a:gd name="adj" fmla="val 3200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3544" y="2726128"/>
            <a:ext cx="272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COMPOUNDING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33544" y="3046168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복리 효과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733544" y="3677104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하나가 10~15개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페이지를 갱신한다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50352" y="2497528"/>
            <a:ext cx="3380232" cy="2048256"/>
          </a:xfrm>
          <a:prstGeom prst="roundRect">
            <a:avLst>
              <a:gd name="adj" fmla="val 3200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9536" y="2726128"/>
            <a:ext cx="2721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NEAR-ZERO UPKEEP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479536" y="3046168"/>
            <a:ext cx="2721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유지비 0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479536" y="3677104"/>
            <a:ext cx="27218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 지겨워하지 않고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링크를 잊지 않는다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69848" y="6055361"/>
            <a:ext cx="10872216" cy="288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“Obsidian은 IDE, LLM은 프로그래머, 위키는 코드베이스다.”  — Andrej Karpathy</a:t>
            </a:r>
            <a:endParaRPr lang="en-US" sz="160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829E9EDA-845F-4D81-4B96-473B7824899D}"/>
              </a:ext>
            </a:extLst>
          </p:cNvPr>
          <p:cNvSpPr/>
          <p:nvPr/>
        </p:nvSpPr>
        <p:spPr>
          <a:xfrm>
            <a:off x="1069848" y="4846320"/>
            <a:ext cx="10049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“요즘 나는 코드보다 개인 지식 저장소를 만드는 데 토큰을 더 많이 쓰고 있다.”</a:t>
            </a:r>
            <a:endParaRPr lang="en-US" sz="18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519BB56B-09EE-5AB4-8F26-00FD978313B3}"/>
              </a:ext>
            </a:extLst>
          </p:cNvPr>
          <p:cNvSpPr/>
          <p:nvPr/>
        </p:nvSpPr>
        <p:spPr>
          <a:xfrm>
            <a:off x="1069848" y="5230368"/>
            <a:ext cx="10049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제품이 아니라 '패턴'이라는 점이 핵심입니다. 에이전트(Claude Code, Codex, OpenCode 등)에게 이 문서를 전달하면</a:t>
            </a:r>
            <a:endParaRPr lang="en-US" sz="1350" dirty="0"/>
          </a:p>
          <a:p>
            <a:pPr marL="0" indent="0">
              <a:lnSpc>
                <a:spcPts val="2300"/>
              </a:lnSpc>
              <a:buNone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각자의 도메인에 맞는 구현을 함께 만들어 가도록 설계되어 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비교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질문할 때 찾기 vs 미리 정리해 두기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88920" y="1627632"/>
            <a:ext cx="4041648" cy="512064"/>
          </a:xfrm>
          <a:prstGeom prst="roundRect">
            <a:avLst>
              <a:gd name="adj" fmla="val 14286"/>
            </a:avLst>
          </a:prstGeom>
          <a:solidFill>
            <a:srgbClr val="E4E8F2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0" y="1627632"/>
            <a:ext cx="4041648" cy="512064"/>
          </a:xfrm>
          <a:prstGeom prst="roundRect">
            <a:avLst>
              <a:gd name="adj" fmla="val 14286"/>
            </a:avLst>
          </a:prstGeom>
          <a:solidFill>
            <a:srgbClr val="2B3A78"/>
          </a:solidFill>
          <a:ln w="12700">
            <a:solidFill>
              <a:srgbClr val="2B3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88920" y="1627632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RAG · 파일 업로드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995160" y="1627632"/>
            <a:ext cx="40416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Wiki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8368" y="2286000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28600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축적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08376" y="228600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 쿼리가 독립적 · 상태 없음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214616" y="228600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지식 위에 새 지식이 쌓임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824" y="301752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관리 주체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08376" y="301752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수동으로 편집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14616" y="301752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요약 · 링크 · 인덱스 · 모순을 갱신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3749040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74904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 방식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08376" y="374904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원문에서 재검색 후 합성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214616" y="374904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정리된 위키에서 즉시 합성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" y="448056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 시점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08376" y="448056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질문할 때 (Query time)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14616" y="448056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넣을 때 (Ingest time)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5212080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7824" y="5212080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위험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08376" y="521208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품질과 조각 선택에 의존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14616" y="5212080"/>
            <a:ext cx="3602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 컴파일된 내용이 그대로 누적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" y="617220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둘은 대체 관계가 아니라 서로 다른 운영 패턴입니다. 한 번 답을 얻고 끝낼 일이면 RAG가 단순하고, 같은 맥락을 반복해서 쓰는 업무일수록 위키가 유리합니다.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아키텍처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개의 계층으로 나눈다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72216" cy="1298448"/>
          </a:xfrm>
          <a:prstGeom prst="roundRect">
            <a:avLst>
              <a:gd name="adj" fmla="val 563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066544"/>
            <a:ext cx="457200" cy="457200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066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18488" y="18653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6274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raw/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18488" y="23225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원천 자료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47488" y="1883664"/>
            <a:ext cx="6117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기사 · 논문 · 회의록 · 이미지 · 데이터 파일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47488" y="2322576"/>
            <a:ext cx="6117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불가(immutable). LLM은 읽기만 하고 절대 수정하지 않는 '진실의 원천'.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108960"/>
            <a:ext cx="10872216" cy="1298448"/>
          </a:xfrm>
          <a:prstGeom prst="roundRect">
            <a:avLst>
              <a:gd name="adj" fmla="val 563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3547872"/>
            <a:ext cx="457200" cy="457200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3547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18488" y="33467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2B3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wiki/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618488" y="380390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소유하는 위키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47488" y="3364992"/>
            <a:ext cx="6117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· 엔티티 · 개념 · 비교 · 개요 · 합성 페이지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47488" y="3803904"/>
            <a:ext cx="6117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LLM이 페이지를 만들고 갱신하며 교차 참조를 유지한다. 사람은 읽는다.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" y="4590288"/>
            <a:ext cx="10872216" cy="1298448"/>
          </a:xfrm>
          <a:prstGeom prst="roundRect">
            <a:avLst>
              <a:gd name="adj" fmla="val 563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50292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18488" y="48280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 / AGENTS.md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618488" y="52852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47488" y="4846320"/>
            <a:ext cx="6117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· 컨벤션 · 인제스트 / 질의 / 유지보수 워크플로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47488" y="5285232"/>
            <a:ext cx="6117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LLM을 일반 챗봇이 아닌 '체계적인 위키 관리자'로 만드는 핵심 설정 파일.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6144768"/>
            <a:ext cx="10872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원칙: 원천 자료와 위키 문서를 절대 섞지 않습니다. raw는 근거, wiki는 해석과 재구성입니다.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· 구조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디렉터리는 이렇게 생겼다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00200"/>
            <a:ext cx="5486400" cy="4343400"/>
          </a:xfrm>
          <a:prstGeom prst="roundRect">
            <a:avLst>
              <a:gd name="adj" fmla="val 1684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8920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my-wiki/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raw/                 원본 소스 (수정 금지)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assets/          로컬 저장 이미지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wiki/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sources/         자료별 요약 페이지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entities/        인물·조직·제품 페이지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concepts/        문서를 가로지르는 합성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explorations/    저장한 질의 결과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index.md         전체 카탈로그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log.md           시간순 운영 기록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E4E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CLAUDE.md            스키마 / 작업 규칙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64808" y="1600200"/>
            <a:ext cx="5065776" cy="1325880"/>
          </a:xfrm>
          <a:prstGeom prst="roundRect">
            <a:avLst>
              <a:gd name="adj" fmla="val 551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57416" y="1801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마크다운 + git 그 자체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757416" y="220370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 이력 · 브랜치 · 협업이 공짜로 따라온다. 특정 벤더에 종속되지 않는다.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64808" y="3108960"/>
            <a:ext cx="5065776" cy="1325880"/>
          </a:xfrm>
          <a:prstGeom prst="roundRect">
            <a:avLst>
              <a:gd name="adj" fmla="val 551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57416" y="33101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[[위키링크]]로 연결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57416" y="371246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Obsidian에서 그대로 열리고, 그래프 뷰로 허브 페이지와 고아 페이지를 확인할 수 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64808" y="4617720"/>
            <a:ext cx="5065776" cy="1325880"/>
          </a:xfrm>
          <a:prstGeom prst="roundRect">
            <a:avLst>
              <a:gd name="adj" fmla="val 551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57416" y="48188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YAML 프론트매터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57416" y="522122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요약 · 태그 · 갱신일을 남기면 LLM이 전문을 읽지 않고도 관련성을 판단한다.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운영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 작업만 기억하면 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3380232" cy="43434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" y="192024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17904" y="1901952"/>
            <a:ext cx="223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Ingest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9264" y="2542032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넣는다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9264" y="3017520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원문을 raw/에 넣고 처리를 지시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페이지 작성 → 인덱스 갱신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관련 엔티티·개념 페이지 동시 수정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하나가 10~15개 페이지에 영향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04360" y="1627632"/>
            <a:ext cx="3380232" cy="43434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15256" y="1920240"/>
            <a:ext cx="402336" cy="402336"/>
          </a:xfrm>
          <a:prstGeom prst="ellipse">
            <a:avLst/>
          </a:prstGeom>
          <a:solidFill>
            <a:srgbClr val="2F7F7C"/>
          </a:solidFill>
          <a:ln/>
        </p:spPr>
      </p:sp>
      <p:sp>
        <p:nvSpPr>
          <p:cNvPr id="12" name="Text 10"/>
          <p:cNvSpPr/>
          <p:nvPr/>
        </p:nvSpPr>
        <p:spPr>
          <a:xfrm>
            <a:off x="4715256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63896" y="1901952"/>
            <a:ext cx="223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F7F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15256" y="2542032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위키에 묻는다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15256" y="3017520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인덱스를 먼저 읽고 관련 페이지 탐색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인용과 함께 답변을 합성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표·슬라이드(Marp)·차트로 출력 가능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답변은 새 페이지로 다시 저장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50352" y="1627632"/>
            <a:ext cx="3380232" cy="43434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61248" y="192024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846124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009888" y="1901952"/>
            <a:ext cx="2237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Lint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61248" y="2542032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건강 상태를 점검한다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61248" y="3017520"/>
            <a:ext cx="2758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간 모순 탐지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자료로 대체된 낡은 주장 확인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인바운드 링크 없는 고아 페이지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채워야 할 데이터 공백 제안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내비게이션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임베딩 없이도 굴러가는 두 개의 파일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253228" cy="2514600"/>
          </a:xfrm>
          <a:prstGeom prst="roundRect">
            <a:avLst>
              <a:gd name="adj" fmla="val 290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847088"/>
            <a:ext cx="459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B3A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index.md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87552" y="2304288"/>
            <a:ext cx="4594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중심 · 카탈로그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87552" y="2706624"/>
            <a:ext cx="4594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페이지를 링크 · 한 줄 요약 · 메타데이터와 함께 카탈로그화합니다. 인제스트할 때마다 갱신되고, 질의 시 LLM이 가장 먼저 읽는 진입점입니다.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77356" y="1627632"/>
            <a:ext cx="5253228" cy="2514600"/>
          </a:xfrm>
          <a:prstGeom prst="roundRect">
            <a:avLst>
              <a:gd name="adj" fmla="val 2909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6540" y="1847088"/>
            <a:ext cx="459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F7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log.md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606540" y="2304288"/>
            <a:ext cx="45948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시간순 · 추가 전용 기록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06540" y="2706624"/>
            <a:ext cx="45948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인제스트 · 질의 · 린트 내역을 순서대로 남깁니다. 접두사를 일정하게 쓰면 유닉스 도구만으로 최근 이력을 파싱할 수 있습니다.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4434840"/>
            <a:ext cx="10872216" cy="1097280"/>
          </a:xfrm>
          <a:prstGeom prst="roundRect">
            <a:avLst>
              <a:gd name="adj" fmla="val 6667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" y="4617720"/>
            <a:ext cx="10104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[2026-04-02] ingest | Article Title      →      grep "^## \[" log.md | tail -5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42416" y="5029200"/>
            <a:ext cx="10104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일관된 접두사 하나가 로그를 파싱 가능한 데이터로 바꿉니다.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8368" y="580644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100개 소스 · 수백 개 페이지 규모까지는 임베딩 기반 RAG 인프라 없이 인덱스 파일만으로 충분히 동작합니다. 그 이상에서는 qmd 같은 로컬 검색 엔진을 붙입니다.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역할 분담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사람은 묻고, LLM은 정리한다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207508" cy="2816352"/>
          </a:xfrm>
          <a:prstGeom prst="roundRect">
            <a:avLst>
              <a:gd name="adj" fmla="val 2319"/>
            </a:avLst>
          </a:prstGeom>
          <a:solidFill>
            <a:srgbClr val="2B3A78"/>
          </a:solidFill>
          <a:ln w="12700">
            <a:solidFill>
              <a:srgbClr val="2B3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865376"/>
            <a:ext cx="44759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사람의 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2452400"/>
            <a:ext cx="4475988" cy="180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읽을 자료를 고르고 큐레이션한다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질문을 던지고 분석 방향을 정한다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중요한지 판단하고 강조점을 지시한다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스키마(작업 규칙)를 LLM과 함께 다듬는다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23076" y="1627632"/>
            <a:ext cx="5207508" cy="2816352"/>
          </a:xfrm>
          <a:prstGeom prst="roundRect">
            <a:avLst>
              <a:gd name="adj" fmla="val 2319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88836" y="1865376"/>
            <a:ext cx="44759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LLM의 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688836" y="2452400"/>
            <a:ext cx="4475988" cy="180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읽고 핵심을 추출한다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· 교차 참조 · 파일 정리 · 기록 관리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데이터와 기존 주장의 모순을 표시한다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10~15개 파일을 일관되게 수정한다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4608576"/>
            <a:ext cx="10872216" cy="1176272"/>
          </a:xfrm>
          <a:prstGeom prst="roundRect">
            <a:avLst>
              <a:gd name="adj" fmla="val 6667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4687568"/>
            <a:ext cx="10104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 베이스가 무너지는 지점은 읽기나 사고가 아니라 북키핑입니다. 사람이 위키를 포기하는 이유는 유지 비용이 가치보다 빨리 커지기 </a:t>
            </a:r>
            <a:r>
              <a:rPr lang="en-US" sz="1300" dirty="0" err="1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때문이고</a:t>
            </a: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r>
              <a:rPr lang="ko-KR" alt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300" dirty="0" err="1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LLM은</a:t>
            </a:r>
            <a:r>
              <a:rPr lang="en-US" sz="130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지겨워하지 않고 교차 참조를 잊지 않기 때문에 그 비용을 거의 0으로 만듭니다.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· 차별점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Karpathy가 정리한 네 가지 장점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1993392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72768" y="1956816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EXPLICIT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72768" y="2231136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명시성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7552" y="2779776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무엇을 알고 모르는지 위키 형태로 눈에 보인다. 불투명한 시스템 내부에 지식이 묻히지 않는다.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7356" y="1645920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6540" y="1993392"/>
            <a:ext cx="402336" cy="402336"/>
          </a:xfrm>
          <a:prstGeom prst="ellipse">
            <a:avLst/>
          </a:prstGeom>
          <a:solidFill>
            <a:srgbClr val="2F7F7C"/>
          </a:solidFill>
          <a:ln/>
        </p:spPr>
      </p:sp>
      <p:sp>
        <p:nvSpPr>
          <p:cNvPr id="12" name="Text 10"/>
          <p:cNvSpPr/>
          <p:nvPr/>
        </p:nvSpPr>
        <p:spPr>
          <a:xfrm>
            <a:off x="6606540" y="1993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91756" y="1956816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F7F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91756" y="2231136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소유권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606540" y="2779776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특정 AI 제공업체가 아니라 내 로컬 디스크에 저장된다. 추출 불가능한 형태로 잠기지 않는다.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858768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" y="420624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72768" y="4169664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FILE OVER APP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72768" y="4443984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우선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87552" y="4992624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마크다운과 이미지 같은 범용 포맷이라 유닉스 툴킷 전체와 원하는 뷰어를 그대로 쓸 수 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77356" y="3858768"/>
            <a:ext cx="5253228" cy="1965960"/>
          </a:xfrm>
          <a:prstGeom prst="roundRect">
            <a:avLst>
              <a:gd name="adj" fmla="val 3721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6540" y="4206240"/>
            <a:ext cx="402336" cy="402336"/>
          </a:xfrm>
          <a:prstGeom prst="ellipse">
            <a:avLst/>
          </a:prstGeom>
          <a:solidFill>
            <a:srgbClr val="6274B8"/>
          </a:solidFill>
          <a:ln/>
        </p:spPr>
      </p:sp>
      <p:sp>
        <p:nvSpPr>
          <p:cNvPr id="24" name="Text 22"/>
          <p:cNvSpPr/>
          <p:nvPr/>
        </p:nvSpPr>
        <p:spPr>
          <a:xfrm>
            <a:off x="660654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91756" y="4169664"/>
            <a:ext cx="40187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BYOAI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91756" y="4443984"/>
            <a:ext cx="40187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선택 자유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606540" y="4992624"/>
            <a:ext cx="45948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Claude, Codex, OpenCode 등 원하는 모델을 붙인다. 위키로 소형 모델을 파인튜닝하는 것도 가능하다.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" y="6144768"/>
            <a:ext cx="10872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“에이전트 활용 능력은 21세기의 핵심 스킬이다.”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활용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지식이 시간에 걸쳐 쌓이는 모든 영역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2763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990088" y="162763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· 건강 · 심리 · 자기개발 추적. 저널, 기사, 팟캐스트 노트를 모아 구조화된 자아 기록을 만든다.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658368" y="249631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9631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연구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2990088" y="249631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주~수 개월에 걸쳐 논문과 보고서를 읽으며 진화하는 테제를 담은 위키를 쌓는다.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658368" y="336499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6499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독서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2990088" y="336499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챕터를 넣을 때마다 인물 · 테마 · 플롯 페이지가 자라난다. 개인용 팬 위키에 가깝다.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658368" y="423367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23367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· 비즈니스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990088" y="423367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슬랙 스레드, 회의 전사, 고객 통화를 먹여 LLM이 유지하는 내부 위키를 만든다.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658368" y="5102352"/>
            <a:ext cx="10872216" cy="749808"/>
          </a:xfrm>
          <a:prstGeom prst="roundRect">
            <a:avLst>
              <a:gd name="adj" fmla="val 9756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02352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기타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990088" y="5102352"/>
            <a:ext cx="81747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분석, 실사(due diligence), 여행 계획, 강의 노트, 취미 심층 탐구.</a:t>
            </a:r>
            <a:endParaRPr lang="en-US" sz="1320" dirty="0"/>
          </a:p>
        </p:txBody>
      </p:sp>
      <p:sp>
        <p:nvSpPr>
          <p:cNvPr id="19" name="Shape 17"/>
          <p:cNvSpPr/>
          <p:nvPr/>
        </p:nvSpPr>
        <p:spPr>
          <a:xfrm>
            <a:off x="658368" y="6089904"/>
            <a:ext cx="10872216" cy="566928"/>
          </a:xfrm>
          <a:prstGeom prst="roundRect">
            <a:avLst>
              <a:gd name="adj" fmla="val 12903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6089904"/>
            <a:ext cx="10177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실사례 — 일기 · Apple Notes · iMessage 2,500건을 넣어 백링크로 연결된 400개 위키 문서를 자동 생성한 'Farzapedia'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한계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굴려본 사람들이 만난 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20391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6" name="Text 4"/>
          <p:cNvSpPr/>
          <p:nvPr/>
        </p:nvSpPr>
        <p:spPr>
          <a:xfrm>
            <a:off x="950976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865376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컴파일 오류와 사실 누락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249424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없이 컴파일하면 중요한 사실이 빠질 수 있다. 잘못 정리된 내용이 그대로 누적된다.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6259068" y="1627632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51676" y="2039112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1" name="Text 9"/>
          <p:cNvSpPr/>
          <p:nvPr/>
        </p:nvSpPr>
        <p:spPr>
          <a:xfrm>
            <a:off x="6551676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55180" y="1865376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오류의 누적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55180" y="2249424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원문 대신 위키를 다시 읽는 구조라, 요약의 요약이 품질 저하로 이어진다는 지적(모델 붕괴 우려).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58368" y="3072384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348386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6" name="Text 14"/>
          <p:cNvSpPr/>
          <p:nvPr/>
        </p:nvSpPr>
        <p:spPr>
          <a:xfrm>
            <a:off x="950976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54480" y="3310128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속도와 규모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694176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정확도를 얻는 대신 속도를 포기하게 된다. 몇 달 굴리면 위키 규모가 급격히 불어난다.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259068" y="3072384"/>
            <a:ext cx="52715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1676" y="3483864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51676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55180" y="3310128"/>
            <a:ext cx="40645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 검색 취약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5180" y="3694176"/>
            <a:ext cx="4064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해외 구현체는 CJK 형태소 토크나이저가 없어 BM25가 약하다. 임베딩 모델 교체나 별도 가드레일이 필요.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658368" y="4517136"/>
            <a:ext cx="10872216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" y="4928616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26" name="Text 24"/>
          <p:cNvSpPr/>
          <p:nvPr/>
        </p:nvSpPr>
        <p:spPr>
          <a:xfrm>
            <a:off x="950976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754880"/>
            <a:ext cx="9665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정보와 검토 인력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5138928"/>
            <a:ext cx="9665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8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· 계약 · 고객 원문은 그대로 넣지 않는다. 검토할 사람이 없으면 오류가 조용히 쌓인다.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658368" y="608076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완화책 — 출처 표기 의무화, 근거 없는 답변은 '위키에 확신 있는 답이 없다'고 말하게 하는 규칙, 작성자와 검수자 역할 분리, 주기적 Lint.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실행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작게 시작하는 다섯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12172B"/>
          </a:solidFill>
          <a:ln w="12700">
            <a:solidFill>
              <a:srgbClr val="1217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7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하나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 전체 지식베이스가 아니라, 반복해서 배경을 다시 설명하던 업무 하나부터.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2887675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43707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1" name="Text 9"/>
          <p:cNvSpPr/>
          <p:nvPr/>
        </p:nvSpPr>
        <p:spPr>
          <a:xfrm>
            <a:off x="3143707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143707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폴더와 스키마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만들기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143707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 / wiki / CLAUDE.md. 원본 수정 금지, 출처 필수, 미확인은 '확인 필요' 표시 같은 규칙을 적는다.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116982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73014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6" name="Text 14"/>
          <p:cNvSpPr/>
          <p:nvPr/>
        </p:nvSpPr>
        <p:spPr>
          <a:xfrm>
            <a:off x="5373014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73014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자료를 한 건씩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넣기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373014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Clipper로 마크다운 변환 → raw/에 저장 → 인제스트하며 요약을 직접 확인한다.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7346290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02322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21" name="Text 19"/>
          <p:cNvSpPr/>
          <p:nvPr/>
        </p:nvSpPr>
        <p:spPr>
          <a:xfrm>
            <a:off x="7602322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02322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질문하고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되먹이기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602322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답변은 대화창에 두지 말고 새 위키 페이지로 저장해 탐색 자체를 축적한다.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9575597" y="1737360"/>
            <a:ext cx="1954987" cy="4023360"/>
          </a:xfrm>
          <a:prstGeom prst="roundRect">
            <a:avLst>
              <a:gd name="adj" fmla="val 3742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31629" y="201168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26" name="Text 24"/>
          <p:cNvSpPr/>
          <p:nvPr/>
        </p:nvSpPr>
        <p:spPr>
          <a:xfrm>
            <a:off x="9831629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31629" y="2633472"/>
            <a:ext cx="14429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주기적으로</a:t>
            </a:r>
            <a:endParaRPr lang="en-US" sz="15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5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린트하기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831629" y="3611880"/>
            <a:ext cx="1442923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22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모순 · 고아 페이지 · 낡은 주장 점검. 규모가 커지면 qmd 같은 검색 레이어를 추가한다.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658368" y="5989320"/>
            <a:ext cx="10872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좋은 출발점은 작지만 반복되는 업무입니다 — 회의록 실행 항목 정리, 고객 문의 분류 기준, 주간 보고서 초안.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정리하면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82880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89888" y="1828800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 Wiki는 제품이 아니라 패턴이다. 마크다운 파일 몇 개로 오늘 시작할 수 있다.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58368" y="2761488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7614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89888" y="2761488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차이는 '정리 시점'에 있다. 질문할 때 찾는 대신, 넣을 때 컴파일한다.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8368" y="3694176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89888" y="3694176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raw는 근거, wiki는 재구성, 스키마는 규칙. 이 셋을 섞지 않는 것이 핵심 원칙이다.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626864"/>
            <a:ext cx="402336" cy="402336"/>
          </a:xfrm>
          <a:prstGeom prst="ellipse">
            <a:avLst/>
          </a:prstGeom>
          <a:solidFill>
            <a:srgbClr val="B5483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626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9888" y="4626864"/>
            <a:ext cx="10003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복리로 쌓이는 만큼 오류도 복리로 쌓인다. 출처 표기와 주기적 검증이 전제 조건이다.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" y="5532120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1C2340"/>
          </a:solidFill>
          <a:ln w="12700">
            <a:solidFill>
              <a:srgbClr val="1C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2416" y="5532120"/>
            <a:ext cx="10104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8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Vannevar Bush의 Memex(1945)가 풀지 못한 문제는 “누가 유지 관리하는가”였습니다. 이제 그 자리를 LLM이 맡습니다.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/>
        </p:nvSpPr>
        <p:spPr>
          <a:xfrm>
            <a:off x="658368" y="384048"/>
            <a:ext cx="10872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627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· 확장</a:t>
            </a:r>
            <a:endParaRPr lang="en-US" sz="1150" dirty="0"/>
          </a:p>
        </p:txBody>
      </p:sp>
      <p:sp>
        <p:nvSpPr>
          <p:cNvPr id="3" name="Text 2"/>
          <p:cNvSpPr/>
          <p:nvPr/>
        </p:nvSpPr>
        <p:spPr>
          <a:xfrm>
            <a:off x="658368" y="658368"/>
            <a:ext cx="108722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위키를 회사 규모로 확장하려면</a:t>
            </a:r>
            <a:endParaRPr lang="en-US" sz="3000" dirty="0"/>
          </a:p>
        </p:txBody>
      </p:sp>
      <p:sp>
        <p:nvSpPr>
          <p:cNvPr id="4" name="Shape 3"/>
          <p:cNvSpPr/>
          <p:nvPr/>
        </p:nvSpPr>
        <p:spPr>
          <a:xfrm>
            <a:off x="658368" y="1627632"/>
            <a:ext cx="3380232" cy="38862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5" name="Shape 4"/>
          <p:cNvSpPr/>
          <p:nvPr/>
        </p:nvSpPr>
        <p:spPr>
          <a:xfrm>
            <a:off x="969264" y="1920240"/>
            <a:ext cx="402336" cy="402336"/>
          </a:xfrm>
          <a:prstGeom prst="ellipse">
            <a:avLst/>
          </a:prstGeom>
          <a:solidFill>
            <a:srgbClr val="2B3A78"/>
          </a:solidFill>
          <a:ln/>
        </p:spPr>
      </p:sp>
      <p:sp>
        <p:nvSpPr>
          <p:cNvPr id="6" name="Text 5"/>
          <p:cNvSpPr/>
          <p:nvPr/>
        </p:nvSpPr>
        <p:spPr>
          <a:xfrm>
            <a:off x="969264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6"/>
          <p:cNvSpPr/>
          <p:nvPr/>
        </p:nvSpPr>
        <p:spPr>
          <a:xfrm>
            <a:off x="1517904" y="1901952"/>
            <a:ext cx="220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Federate</a:t>
            </a:r>
            <a:endParaRPr lang="en-US" sz="2200" dirty="0"/>
          </a:p>
        </p:txBody>
      </p:sp>
      <p:sp>
        <p:nvSpPr>
          <p:cNvPr id="8" name="Text 7"/>
          <p:cNvSpPr/>
          <p:nvPr/>
        </p:nvSpPr>
        <p:spPr>
          <a:xfrm>
            <a:off x="969264" y="248716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도메인별로 나눠 늘린다</a:t>
            </a:r>
            <a:endParaRPr lang="en-US" sz="1500" dirty="0"/>
          </a:p>
        </p:txBody>
      </p:sp>
      <p:sp>
        <p:nvSpPr>
          <p:cNvPr id="9" name="Text 8"/>
          <p:cNvSpPr/>
          <p:nvPr/>
        </p:nvSpPr>
        <p:spPr>
          <a:xfrm>
            <a:off x="969264" y="2916936"/>
            <a:ext cx="2758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팀·제품별 위키를 개별 저장소로 운영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 루트 index가 위키 목록을 라우팅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[[wiki:page]] 네임스페이스로 교차 참조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에이전트는 대상 위키만 골라 진입</a:t>
            </a:r>
            <a:endParaRPr lang="en-US" sz="1300" dirty="0"/>
          </a:p>
        </p:txBody>
      </p:sp>
      <p:sp>
        <p:nvSpPr>
          <p:cNvPr id="10" name="Shape 9"/>
          <p:cNvSpPr/>
          <p:nvPr/>
        </p:nvSpPr>
        <p:spPr>
          <a:xfrm>
            <a:off x="4404360" y="1627632"/>
            <a:ext cx="3380232" cy="38862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1" name="Shape 10"/>
          <p:cNvSpPr/>
          <p:nvPr/>
        </p:nvSpPr>
        <p:spPr>
          <a:xfrm>
            <a:off x="4715256" y="1920240"/>
            <a:ext cx="402336" cy="402336"/>
          </a:xfrm>
          <a:prstGeom prst="ellipse">
            <a:avLst/>
          </a:prstGeom>
          <a:solidFill>
            <a:srgbClr val="2F7F7C"/>
          </a:solidFill>
          <a:ln/>
        </p:spPr>
      </p:sp>
      <p:sp>
        <p:nvSpPr>
          <p:cNvPr id="12" name="Text 11"/>
          <p:cNvSpPr/>
          <p:nvPr/>
        </p:nvSpPr>
        <p:spPr>
          <a:xfrm>
            <a:off x="4715256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2"/>
          <p:cNvSpPr/>
          <p:nvPr/>
        </p:nvSpPr>
        <p:spPr>
          <a:xfrm>
            <a:off x="5263896" y="1901952"/>
            <a:ext cx="220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F7F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</a:t>
            </a:r>
            <a:endParaRPr lang="en-US" sz="2200" dirty="0"/>
          </a:p>
        </p:txBody>
      </p:sp>
      <p:sp>
        <p:nvSpPr>
          <p:cNvPr id="14" name="Text 13"/>
          <p:cNvSpPr/>
          <p:nvPr/>
        </p:nvSpPr>
        <p:spPr>
          <a:xfrm>
            <a:off x="4715256" y="248716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검색을 인프라로 올린다</a:t>
            </a:r>
            <a:endParaRPr lang="en-US" sz="1500" dirty="0"/>
          </a:p>
        </p:txBody>
      </p:sp>
      <p:sp>
        <p:nvSpPr>
          <p:cNvPr id="15" name="Text 14"/>
          <p:cNvSpPr/>
          <p:nvPr/>
        </p:nvSpPr>
        <p:spPr>
          <a:xfrm>
            <a:off x="4715256" y="2916936"/>
            <a:ext cx="2758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BM25 서버 인덱스 + 벡터 DB 하이브리드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한국어는 Nori·Kiwi 형태소 분석기 적용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MCP 검색 서버로 전 에이전트 공용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커밋 훅 증분 색인 — 수만 문서도 초 단위</a:t>
            </a:r>
            <a:endParaRPr lang="en-US" sz="1300" dirty="0"/>
          </a:p>
        </p:txBody>
      </p:sp>
      <p:sp>
        <p:nvSpPr>
          <p:cNvPr id="16" name="Shape 15"/>
          <p:cNvSpPr/>
          <p:nvPr/>
        </p:nvSpPr>
        <p:spPr>
          <a:xfrm>
            <a:off x="8150352" y="1627632"/>
            <a:ext cx="3380232" cy="3886200"/>
          </a:xfrm>
          <a:prstGeom prst="roundRect">
            <a:avLst>
              <a:gd name="adj" fmla="val 2164"/>
            </a:avLst>
          </a:prstGeom>
          <a:solidFill>
            <a:srgbClr val="F2F4F9"/>
          </a:solidFill>
          <a:ln w="12700">
            <a:solidFill>
              <a:srgbClr val="F2F4F9"/>
            </a:solidFill>
            <a:prstDash val="solid"/>
          </a:ln>
        </p:spPr>
      </p:sp>
      <p:sp>
        <p:nvSpPr>
          <p:cNvPr id="17" name="Shape 16"/>
          <p:cNvSpPr/>
          <p:nvPr/>
        </p:nvSpPr>
        <p:spPr>
          <a:xfrm>
            <a:off x="8461248" y="1920240"/>
            <a:ext cx="402336" cy="40233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7"/>
          <p:cNvSpPr/>
          <p:nvPr/>
        </p:nvSpPr>
        <p:spPr>
          <a:xfrm>
            <a:off x="8461248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8"/>
          <p:cNvSpPr/>
          <p:nvPr/>
        </p:nvSpPr>
        <p:spPr>
          <a:xfrm>
            <a:off x="9009888" y="1901952"/>
            <a:ext cx="220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E8A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Govern</a:t>
            </a:r>
            <a:endParaRPr lang="en-US" sz="2200" dirty="0"/>
          </a:p>
        </p:txBody>
      </p:sp>
      <p:sp>
        <p:nvSpPr>
          <p:cNvPr id="20" name="Text 19"/>
          <p:cNvSpPr/>
          <p:nvPr/>
        </p:nvSpPr>
        <p:spPr>
          <a:xfrm>
            <a:off x="8461248" y="2487168"/>
            <a:ext cx="2758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1D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검토를 프로세스로 만든다</a:t>
            </a:r>
            <a:endParaRPr lang="en-US" sz="1500" dirty="0"/>
          </a:p>
        </p:txBody>
      </p:sp>
      <p:sp>
        <p:nvSpPr>
          <p:cNvPr id="21" name="Text 20"/>
          <p:cNvSpPr/>
          <p:nvPr/>
        </p:nvSpPr>
        <p:spPr>
          <a:xfrm>
            <a:off x="8461248" y="2916936"/>
            <a:ext cx="2758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CODEOWNERS로 도메인별 검수자 지정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 리뷰를 머지 게이트로 — 작성 LLM, 승인 사람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공개·내부·기밀 위키를 권한별로 분리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6E74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야간 Lint 배치 + 모순·고아 대시보드</a:t>
            </a:r>
            <a:endParaRPr lang="en-US" sz="1300" dirty="0"/>
          </a:p>
        </p:txBody>
      </p:sp>
      <p:sp>
        <p:nvSpPr>
          <p:cNvPr id="22" name="Text 21"/>
          <p:cNvSpPr/>
          <p:nvPr/>
        </p:nvSpPr>
        <p:spPr>
          <a:xfrm>
            <a:off x="658368" y="6080760"/>
            <a:ext cx="10872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B3A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경로 — 수백 페이지는 index.md, 팀 규모는 qmd 하이브리드 검색, 전사 1만 문서 이상은 검색 서버와 검수 프로세스.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1661</Words>
  <Application>Microsoft Macintosh PowerPoint</Application>
  <PresentationFormat>와이드스크린</PresentationFormat>
  <Paragraphs>266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Wiki: LLM이 직접 관리하는 개인 지식 베이스</dc:title>
  <dc:subject>PptxGenJS Presentation</dc:subject>
  <dc:creator>LLM Wiki 스터디</dc:creator>
  <cp:lastModifiedBy>승하 이</cp:lastModifiedBy>
  <cp:revision>2</cp:revision>
  <dcterms:created xsi:type="dcterms:W3CDTF">2026-08-09T02:07:22Z</dcterms:created>
  <dcterms:modified xsi:type="dcterms:W3CDTF">2026-08-09T06:26:56Z</dcterms:modified>
</cp:coreProperties>
</file>