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문서의 목표는 위키를 새 지식 저장소로 만드는 것이 아니라, 기존 그래프의 단 하나의 약점(현장어 문서의 미연결)만 정밀 타격하는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우위(환각 없음, 낡지 않음)를 스스로 포기하지 않는 것이 이 문서 전체의 설계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 사이의 화살표는 '부족'일 때만 다음 단계로 진행함을 뜻합니다 — 충분하면 그 단계에서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점선 화살표는 승인된 배치 결과가 AI_DOC_LINK를 통해 질의 경로로 편입되는 유일한 접점을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선순환 다이어그램: 승인된 별칭이 누적될수록 1단계 적중률이 오르고, 그 결과 3단계 호출 빈도가 자연히 줄어드는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NOTE   ·   PART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1609344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그래프·벡터 자산 연계형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결정적(deterministic) 그래프(AI_EVT_*)와 의미 검색(Milvus)을 이미 보유한 환경에서, LLM 위키/GraphRAG류 기법 중 실제로 도입 가치가 있는 조각만 골라 기존 파이프라인에 얹는 방법을 정리합니다.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4370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4370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50992" y="4370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0992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MES-DevKG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102352"/>
            <a:ext cx="7498080" cy="0"/>
          </a:xfrm>
          <a:prstGeom prst="line">
            <a:avLst/>
          </a:prstGeom>
          <a:noFill/>
          <a:ln w="12700">
            <a:solidFill>
              <a:srgbClr val="31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52486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스택: Neo4j + Milvus + GLM-5.2   ·   선행 문서: 01-wiki-structure-guide.html, 02-mes-domain-best-practices.html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49640" y="1517904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169164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C97A12"/>
          </a:solidFill>
          <a:ln/>
        </p:spPr>
      </p:sp>
      <p:sp>
        <p:nvSpPr>
          <p:cNvPr id="15" name="Text 13"/>
          <p:cNvSpPr/>
          <p:nvPr/>
        </p:nvSpPr>
        <p:spPr>
          <a:xfrm>
            <a:off x="9308592" y="1636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그래프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08592" y="1901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AI_EVT_* — 소스 분석·로그 관측·시퀀스 마이닝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49640" y="2432304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2520" y="260604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551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검색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08592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Milvus — 구현 완료·배포 대기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49640" y="3346704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2520" y="352044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5C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3465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스택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8592" y="37307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GLM-5.2 — 배치 전용, 실시간 질의 미개입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49640" y="4261104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2520" y="443484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3A4470"/>
          </a:solidFill>
          <a:ln/>
        </p:spPr>
      </p:sp>
      <p:sp>
        <p:nvSpPr>
          <p:cNvPr id="27" name="Text 25"/>
          <p:cNvSpPr/>
          <p:nvPr/>
        </p:nvSpPr>
        <p:spPr>
          <a:xfrm>
            <a:off x="9308592" y="4379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도구체인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08592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process_context → effects → 소스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·  핵심 통찰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그래프는 왜 우위인가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GraphRAG류가 LLM으로 새로 추출하는 것을, 이 환경은 이미 결정적으로 뽑아 적재하고 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385816" cy="1828800"/>
          </a:xfrm>
          <a:prstGeom prst="roundRect">
            <a:avLst>
              <a:gd name="adj" fmla="val 5500"/>
            </a:avLst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01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883664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환각이 없다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32304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분석·로그 관측은 실제 실행된 사실에서 파생되므로, LLM이 그럴듯하게 지어내는 관계가 섞이지 않는다.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700784"/>
            <a:ext cx="5385816" cy="1828800"/>
          </a:xfrm>
          <a:prstGeom prst="roundRect">
            <a:avLst>
              <a:gd name="adj" fmla="val 5500"/>
            </a:avLst>
          </a:prstGeom>
          <a:solidFill>
            <a:srgbClr val="FBEFDC"/>
          </a:solidFill>
          <a:ln/>
        </p:spPr>
      </p:sp>
      <p:sp>
        <p:nvSpPr>
          <p:cNvPr id="11" name="Shape 9"/>
          <p:cNvSpPr/>
          <p:nvPr/>
        </p:nvSpPr>
        <p:spPr>
          <a:xfrm>
            <a:off x="6510528" y="1901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883664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낡지 않는다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0528" y="2432304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Oracle을 진실 원천(source of truth)으로 두고 언제든 그래프를 재생성할 수 있어, 스키마·로직이 바뀌어도 그래프가 오염된 채 남지 않는다.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11055096" cy="100584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3913632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전제 위에서 'LLM 위키로 전면 재구축'은 이미 보유한 우위를 스스로 낮추는 선택이 된다.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4315968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이 문서의 목표는 위키를 새 지식 저장소로 만드는 것이 아니라, 기존 그래프가 갖는 단 하나의 약점을 정밀 타격하는 것이다.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11055096" cy="1042416"/>
          </a:xfrm>
          <a:prstGeom prst="roundRect">
            <a:avLst>
              <a:gd name="adj" fmla="val 9649"/>
            </a:avLst>
          </a:prstGeom>
          <a:solidFill>
            <a:srgbClr val="111834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표적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" y="5394960"/>
            <a:ext cx="1043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현장어 문서의 미연결 (mention matching 실패 구간)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·  판정 요약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가져오고 무엇을 버리는가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프레임워크에서 실제로 채택하는 조각은 단 하나뿐이다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FBE9E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0136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9B2C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013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29968" y="17007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LightRAG/LLM Wiki로 지식 전체 재구축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41848" y="170078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그래프는 이미 결정적 추출이 우위. 대체 시 정확도 하락 + 비용 증가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FBE9E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4144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9B2C2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4144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3408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생성 위키 페이지의 영속 저장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41848" y="234086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'설명 저장 = 두 번째 낮은 진실' 문제. 진실 원천이 갈라지면 둘 다 신뢰도 하락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FBE9E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8152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9B2C2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815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29968" y="29809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데스크톱/Obsidian 기반 도구 직접 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41848" y="298094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개인용 앱 형태 — 사내 서버·GLM 스택 운영 환경에 부적합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2102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E3F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72160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1F6F5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216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29968" y="36210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청크로부터 LLM 엔티티·관계 추출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41848" y="362102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매칭의 유일한 약점을 정확히 보완. 별칭 사전의 세 번째 경로 확보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26110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EAF0F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36168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6168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보유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9968" y="42611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탐색 질의(멀티홉)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41848" y="426110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process_context → effects → 소스 도구 체인을 이미 운영 중 — 신규 구축 불필요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901184"/>
            <a:ext cx="11055096" cy="548640"/>
          </a:xfrm>
          <a:prstGeom prst="roundRect">
            <a:avLst>
              <a:gd name="adj" fmla="val 18333"/>
            </a:avLst>
          </a:prstGeom>
          <a:solidFill>
            <a:srgbClr val="FBEFDC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001768"/>
            <a:ext cx="1133856" cy="347472"/>
          </a:xfrm>
          <a:prstGeom prst="roundRect">
            <a:avLst>
              <a:gd name="adj" fmla="val 26316"/>
            </a:avLst>
          </a:prstGeom>
          <a:solidFill>
            <a:srgbClr val="C97A12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0017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29968" y="4901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요약 (그래프 군집별 LLM 요약)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41848" y="490118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'체인 서사'와 동일 개념. 정적 소비자가 실제로 생길 때 재검토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614416"/>
            <a:ext cx="11055096" cy="603504"/>
          </a:xfrm>
          <a:prstGeom prst="roundRect">
            <a:avLst>
              <a:gd name="adj" fmla="val 16667"/>
            </a:avLst>
          </a:prstGeom>
          <a:solidFill>
            <a:srgbClr val="111834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614416"/>
            <a:ext cx="10506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"직진 궤도를 갈아타는 것"이 아니라, 그래프+벡터 하이브리드라는 동일한 목적지에 이미 다른 길로 도착해 있는 상태 — 외부에서 가져올 것은 문서→현장어 연결의 LLM 추출 한 조각뿐.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·  구조 재정의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위키가 아니라 추출 스테이징 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폴더 하나하나가 '두 번째 진실'이 될 위험을 갖는다 — 그래서 지식을 담지 않는다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385816" cy="2468880"/>
          </a:xfrm>
          <a:prstGeom prst="roundRect">
            <a:avLst>
              <a:gd name="adj" fmla="val 4074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883664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LLM 위키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4764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concepts/ · entities/ · synthesis/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그래프·벡터 인프라가 없는 조직을 전제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지식을 담는 영속 저장소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자체가 정제된 지식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700784"/>
            <a:ext cx="5385816" cy="2468880"/>
          </a:xfrm>
          <a:prstGeom prst="roundRect">
            <a:avLst>
              <a:gd name="adj" fmla="val 4074"/>
            </a:avLst>
          </a:prstGeom>
          <a:solidFill>
            <a:srgbClr val="EAF0FC"/>
          </a:solidFill>
          <a:ln/>
        </p:spPr>
      </p:sp>
      <p:sp>
        <p:nvSpPr>
          <p:cNvPr id="9" name="Text 7"/>
          <p:cNvSpPr/>
          <p:nvPr/>
        </p:nvSpPr>
        <p:spPr>
          <a:xfrm>
            <a:off x="6547104" y="1883664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환경의 추출 스테이징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47104" y="2286000"/>
            <a:ext cx="4764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staging/extractions · alias-candidates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승격되기 전까지만 존재하는 임시 작업대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소스에서 언제든 재실행해 재생성 가능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결과만 AI_DOC_LINK로 흘러가고, 스테이징은 감사 로그로만 남음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88736" y="2798064"/>
            <a:ext cx="420624" cy="347472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4370832"/>
            <a:ext cx="11055096" cy="1627632"/>
          </a:xfrm>
          <a:prstGeom prst="roundRect">
            <a:avLst>
              <a:gd name="adj" fmla="val 6180"/>
            </a:avLst>
          </a:prstGeom>
          <a:solidFill>
            <a:srgbClr val="11183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진실원천 철학과 동일 선상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" y="486460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6460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소스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5193792"/>
            <a:ext cx="164592" cy="146304"/>
          </a:xfrm>
          <a:prstGeom prst="rightArrow">
            <a:avLst/>
          </a:prstGeom>
          <a:solidFill>
            <a:srgbClr val="6C79A8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9584" y="486460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486460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재실행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07608" y="5193792"/>
            <a:ext cx="164592" cy="146304"/>
          </a:xfrm>
          <a:prstGeom prst="rightArrow">
            <a:avLst/>
          </a:prstGeom>
          <a:solidFill>
            <a:srgbClr val="6C79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1344" y="486460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86460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결과만 AI_DOC_LINK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59368" y="5193792"/>
            <a:ext cx="164592" cy="146304"/>
          </a:xfrm>
          <a:prstGeom prst="rightArrow">
            <a:avLst/>
          </a:prstGeom>
          <a:solidFill>
            <a:srgbClr val="6C79A8"/>
          </a:solidFill>
          <a:ln/>
        </p:spPr>
      </p:sp>
      <p:sp>
        <p:nvSpPr>
          <p:cNvPr id="23" name="Shape 21"/>
          <p:cNvSpPr/>
          <p:nvPr/>
        </p:nvSpPr>
        <p:spPr>
          <a:xfrm>
            <a:off x="8833104" y="4864608"/>
            <a:ext cx="2423160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486460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= 감사 로그만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·  저장소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/ 데이터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폴더별 보관 성격과 재생성 가능 여부를 명확히 구분한다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309360" cy="3566160"/>
          </a:xfrm>
          <a:prstGeom prst="roundRect">
            <a:avLst>
              <a:gd name="adj" fmla="val 2564"/>
            </a:avLst>
          </a:prstGeom>
          <a:solidFill>
            <a:srgbClr val="1A22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590702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llm-extraction/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staging/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extractions/       # 청크별 LLM 추출 원본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&lt;chunk_id&gt;.json      (승격 전, 휘발성)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alias-candidates/  # SME 검수 대기 중인 별칭 후보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&lt;candidate_id&gt;.json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audit-log/         # 승인/반려 이력 (영구 보관)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pipeline-config/        # 배치 실행 조건, 임계값,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config.yaml         # 모델 버전 고정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CLAUDE.md                # 배치잡/에이전트 운영 규칙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9168" y="1700784"/>
          <a:ext cx="4562856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11795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폴더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 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staging/extractions/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휘발성 (승격/반려 후 정리)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언제든 재추출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staging/alias-candidates/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SME 검수 완료 시까지 유효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staging/audit-log/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영구 보관 (감사 목적)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 — 이력 자체가 자산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pipeline-config/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관리 대상 (코드 취급)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관리 권장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59168" y="5431536"/>
            <a:ext cx="4562856" cy="749808"/>
          </a:xfrm>
          <a:prstGeom prst="roundRect">
            <a:avLst>
              <a:gd name="adj" fmla="val 13415"/>
            </a:avLst>
          </a:prstGeom>
          <a:solidFill>
            <a:srgbClr val="FBEFDC"/>
          </a:solidFill>
          <a:ln/>
        </p:spPr>
      </p:sp>
      <p:sp>
        <p:nvSpPr>
          <p:cNvPr id="9" name="Text 6"/>
          <p:cNvSpPr/>
          <p:nvPr/>
        </p:nvSpPr>
        <p:spPr>
          <a:xfrm>
            <a:off x="7296912" y="5431536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staging은 백업 대상이 아니다 — 원본 소스 + audit-log + AI_DOC_LINK만 백업하면 충분하다.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·  스키마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레코드 스키마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필드는 evidence_type — 결정적 매칭과 LLM 추출을 적재 시점부터 분리한다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1A22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608990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"extraction_id": "ext_2026-08-15_00042",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"source_chunk_id": "DOC_9931#chunk_07",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Oracle/파일시스템 포인터, 원문 텍스트 복제 금지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"extracted_terms": [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"surface_form": "웨이퍼 홀드",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"candidate_anchor": "PROC_WAFER_HOLD_STATE",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기존 그래프 앵커 후보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"match_type": "candidate",  // 확정 아님, 제안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"confidence": 0.82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"evidence_type": "LLM_EXTRACTED",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'MENTION_MATCH'와 명확히 구분되는 근거 유형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"GLM-5.2",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"extracted_at": "2026-08-15T09:12:00Z",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"review_status": "pending",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pending | approved | rejected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"reviewer": null,   "reviewed_at": null,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"promoted_to": null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승인 시 AI_DOC_LINK 행 ID 기록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644384" y="1700784"/>
            <a:ext cx="3977640" cy="1828800"/>
          </a:xfrm>
          <a:prstGeom prst="roundRect">
            <a:avLst>
              <a:gd name="adj" fmla="val 5500"/>
            </a:avLst>
          </a:prstGeom>
          <a:solidFill>
            <a:srgbClr val="FBEFDC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18653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evidence_type 분리 효과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82128" y="2212848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연결이 왜 맞다고 판단했는가"를 근거 유형별로 되짚을 수 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정확도를 독립적으로 추적할 수 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44384" y="3749040"/>
            <a:ext cx="3977640" cy="786384"/>
          </a:xfrm>
          <a:prstGeom prst="roundRect">
            <a:avLst>
              <a:gd name="adj" fmla="val 12791"/>
            </a:avLst>
          </a:prstGeom>
          <a:solidFill>
            <a:srgbClr val="EAF0FC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MENTION_MATCH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82128" y="41330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매칭 결과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44384" y="4663440"/>
            <a:ext cx="3977640" cy="786384"/>
          </a:xfrm>
          <a:prstGeom prst="roundRect">
            <a:avLst>
              <a:gd name="adj" fmla="val 12791"/>
            </a:avLst>
          </a:prstGeom>
          <a:solidFill>
            <a:srgbClr val="FB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754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LLM_EXTRACTED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82128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결과 (본 파이프라인)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·  도입 게이트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도입 게이트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이전 단계로 충분하지 않을 때만 진행한다 — 세 단계 모두 실행이 목표가 아니다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3310128" cy="3200400"/>
          </a:xfrm>
          <a:prstGeom prst="roundRect">
            <a:avLst>
              <a:gd name="adj" fmla="val 3143"/>
            </a:avLst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542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문서 파일럿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3200400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매칭(mention matching) 연결률을 측정한다.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준비되어 있어 별도 구축 없이 바로 실행 가능.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모든 단계 진행 여부를 결정하는 판단 기준.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3246120"/>
            <a:ext cx="274320" cy="146304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34015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98848" y="1755648"/>
            <a:ext cx="3310128" cy="3200400"/>
          </a:xfrm>
          <a:prstGeom prst="roundRect">
            <a:avLst>
              <a:gd name="adj" fmla="val 3143"/>
            </a:avLst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4BA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18304" y="2542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F4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연결률 부족 시 — Milvus 의미 검색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18304" y="3200400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구현 완료 · 배포 대기 상태.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비용 없이 현장어 표현을 벡터 유사도로 커버.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해소되면 3단계는 불필요.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3246120"/>
            <a:ext cx="274320" cy="146304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18" name="Text 16"/>
          <p:cNvSpPr/>
          <p:nvPr/>
        </p:nvSpPr>
        <p:spPr>
          <a:xfrm>
            <a:off x="7790688" y="34015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30768" y="1755648"/>
            <a:ext cx="3310128" cy="3200400"/>
          </a:xfrm>
          <a:prstGeom prst="roundRect">
            <a:avLst>
              <a:gd name="adj" fmla="val 3143"/>
            </a:avLst>
          </a:prstGeom>
          <a:solidFill>
            <a:srgbClr val="FB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5022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21" name="Text 19"/>
          <p:cNvSpPr/>
          <p:nvPr/>
        </p:nvSpPr>
        <p:spPr>
          <a:xfrm>
            <a:off x="865022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50224" y="2542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부족 시 — LLM 엔티티 추출 (좁은 스코프)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50224" y="3200400"/>
            <a:ext cx="28712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①·②로도 미연결인 청크만 대상.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GLM-5.2가 핵심 개념 + 관련 시스템 용어 추출.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적재 → 별칭 후보 → SME 검수 후 승격.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193792"/>
            <a:ext cx="11055096" cy="1005840"/>
          </a:xfrm>
          <a:prstGeom prst="roundRect">
            <a:avLst>
              <a:gd name="adj" fmla="val 10000"/>
            </a:avLst>
          </a:prstGeom>
          <a:solidFill>
            <a:srgbClr val="11183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스코프를 반드시 지킬 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559612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3단계는 전체 문서를 다시 추출하는 것이 아니라 ①·②로 매칭되지 않은 청크에만 한정된다. 이미 매칭된 청크는 절대 재추출 대상에 포함하지 않아야, 기존 그래프의 정확도 우위가 희석되지 않는다.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·  반영 규칙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AI_DOC_LINK 반영 규칙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안 된 별칭이 실시간 질의에 섞이면 '환각 없음' 속성이 우회적으로 훼손된다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1901952"/>
          </a:xfrm>
          <a:prstGeom prst="roundRect">
            <a:avLst>
              <a:gd name="adj" fmla="val 528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5681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유형 분리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evidence_type='LLM_EXTRACTED'는 MENTION_MATCH와 절대 병합하지 않는다. 조회·통계 시점에도 유형별로 구분 집계한다.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5440680" cy="1901952"/>
          </a:xfrm>
          <a:prstGeom prst="roundRect">
            <a:avLst>
              <a:gd name="adj" fmla="val 528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195681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9B2C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22592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전 격리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37376" y="2523744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review_status='pending' 상태의 별칭 후보는 에이전트 검색 경로(process_context → effects → 소스)에서 참조하지 않도록 차단한다.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40480"/>
            <a:ext cx="5440680" cy="1901952"/>
          </a:xfrm>
          <a:prstGeom prst="roundRect">
            <a:avLst>
              <a:gd name="adj" fmla="val 528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59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2F4B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08176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승격은 단방향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26864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항목만 AI_DOC_LINK에 정식 행으로 기록되고, 이후 조회 경로는 승격된 레코드만 본다. staging 원본은 감사 목적으로만 보관.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3840480"/>
            <a:ext cx="5440680" cy="1901952"/>
          </a:xfrm>
          <a:prstGeom prst="roundRect">
            <a:avLst>
              <a:gd name="adj" fmla="val 5288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405993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22592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 이력도 자산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37376" y="4626864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반려된 후보를 audit-log/에 남겨, 동일 청크가 파이프라인 재실행 시 같은 후보를 반복 제안하지 않도록 한다.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·  운영 분리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시점 vs 배치 시점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설계 원칙: 실시간 질의 경로를 전혀 바꾸지 않는다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19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시점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(실시간)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2331720" cy="658368"/>
          </a:xfrm>
          <a:prstGeom prst="roundRect">
            <a:avLst>
              <a:gd name="adj" fmla="val 15278"/>
            </a:avLst>
          </a:prstGeom>
          <a:solidFill>
            <a:srgbClr val="EAF0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860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2542032"/>
            <a:ext cx="146304" cy="146304"/>
          </a:xfrm>
          <a:prstGeom prst="rightArrow">
            <a:avLst/>
          </a:prstGeom>
          <a:solidFill>
            <a:srgbClr val="2F4BA8"/>
          </a:solidFill>
          <a:ln/>
        </p:spPr>
      </p:sp>
      <p:sp>
        <p:nvSpPr>
          <p:cNvPr id="10" name="Shape 8"/>
          <p:cNvSpPr/>
          <p:nvPr/>
        </p:nvSpPr>
        <p:spPr>
          <a:xfrm>
            <a:off x="3099816" y="2286000"/>
            <a:ext cx="2331720" cy="658368"/>
          </a:xfrm>
          <a:prstGeom prst="roundRect">
            <a:avLst>
              <a:gd name="adj" fmla="val 15278"/>
            </a:avLst>
          </a:prstGeom>
          <a:solidFill>
            <a:srgbClr val="EAF0FC"/>
          </a:solidFill>
          <a:ln/>
        </p:spPr>
      </p:sp>
      <p:sp>
        <p:nvSpPr>
          <p:cNvPr id="11" name="Text 9"/>
          <p:cNvSpPr/>
          <p:nvPr/>
        </p:nvSpPr>
        <p:spPr>
          <a:xfrm>
            <a:off x="3191256" y="22860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process_context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58968" y="2542032"/>
            <a:ext cx="146304" cy="146304"/>
          </a:xfrm>
          <a:prstGeom prst="rightArrow">
            <a:avLst/>
          </a:prstGeom>
          <a:solidFill>
            <a:srgbClr val="2F4BA8"/>
          </a:solidFill>
          <a:ln/>
        </p:spPr>
      </p:sp>
      <p:sp>
        <p:nvSpPr>
          <p:cNvPr id="13" name="Shape 11"/>
          <p:cNvSpPr/>
          <p:nvPr/>
        </p:nvSpPr>
        <p:spPr>
          <a:xfrm>
            <a:off x="5632704" y="2286000"/>
            <a:ext cx="2331720" cy="658368"/>
          </a:xfrm>
          <a:prstGeom prst="roundRect">
            <a:avLst>
              <a:gd name="adj" fmla="val 15278"/>
            </a:avLst>
          </a:prstGeom>
          <a:solidFill>
            <a:srgbClr val="EAF0FC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22860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91856" y="2542032"/>
            <a:ext cx="146304" cy="146304"/>
          </a:xfrm>
          <a:prstGeom prst="rightArrow">
            <a:avLst/>
          </a:prstGeom>
          <a:solidFill>
            <a:srgbClr val="2F4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65592" y="2286000"/>
            <a:ext cx="2331720" cy="658368"/>
          </a:xfrm>
          <a:prstGeom prst="roundRect">
            <a:avLst>
              <a:gd name="adj" fmla="val 15278"/>
            </a:avLst>
          </a:prstGeom>
          <a:solidFill>
            <a:srgbClr val="EAF0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57032" y="22860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인용 응답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0540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오직 승격 완료된 AI_DOC_LINK 레코드만 참조 — staging은 전혀 관여하지 않는다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493008"/>
            <a:ext cx="11055096" cy="0"/>
          </a:xfrm>
          <a:prstGeom prst="line">
            <a:avLst/>
          </a:prstGeom>
          <a:noFill/>
          <a:ln w="12700">
            <a:solidFill>
              <a:srgbClr val="D9DFE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6928" y="36576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97A1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시점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(오프라인)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224528"/>
            <a:ext cx="1847088" cy="786384"/>
          </a:xfrm>
          <a:prstGeom prst="roundRect">
            <a:avLst>
              <a:gd name="adj" fmla="val 12791"/>
            </a:avLst>
          </a:prstGeom>
          <a:solidFill>
            <a:srgbClr val="FBEFD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2452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미연결 청크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32304" y="4544568"/>
            <a:ext cx="109728" cy="146304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25" name="Shape 23"/>
          <p:cNvSpPr/>
          <p:nvPr/>
        </p:nvSpPr>
        <p:spPr>
          <a:xfrm>
            <a:off x="2542032" y="4224528"/>
            <a:ext cx="1847088" cy="786384"/>
          </a:xfrm>
          <a:prstGeom prst="roundRect">
            <a:avLst>
              <a:gd name="adj" fmla="val 12791"/>
            </a:avLst>
          </a:prstGeom>
          <a:solidFill>
            <a:srgbClr val="FBEFDC"/>
          </a:solidFill>
          <a:ln/>
        </p:spPr>
      </p:sp>
      <p:sp>
        <p:nvSpPr>
          <p:cNvPr id="26" name="Text 24"/>
          <p:cNvSpPr/>
          <p:nvPr/>
        </p:nvSpPr>
        <p:spPr>
          <a:xfrm>
            <a:off x="2615184" y="422452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GLM-5.2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07408" y="4544568"/>
            <a:ext cx="109728" cy="146304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17136" y="4224528"/>
            <a:ext cx="1847088" cy="786384"/>
          </a:xfrm>
          <a:prstGeom prst="roundRect">
            <a:avLst>
              <a:gd name="adj" fmla="val 12791"/>
            </a:avLst>
          </a:prstGeom>
          <a:solidFill>
            <a:srgbClr val="FBEFDC"/>
          </a:solidFill>
          <a:ln/>
        </p:spPr>
      </p:sp>
      <p:sp>
        <p:nvSpPr>
          <p:cNvPr id="29" name="Text 27"/>
          <p:cNvSpPr/>
          <p:nvPr/>
        </p:nvSpPr>
        <p:spPr>
          <a:xfrm>
            <a:off x="4590288" y="422452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82512" y="4544568"/>
            <a:ext cx="109728" cy="146304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4224528"/>
            <a:ext cx="1847088" cy="786384"/>
          </a:xfrm>
          <a:prstGeom prst="roundRect">
            <a:avLst>
              <a:gd name="adj" fmla="val 12791"/>
            </a:avLst>
          </a:prstGeom>
          <a:solidFill>
            <a:srgbClr val="FBEFDC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422452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57616" y="4544568"/>
            <a:ext cx="109728" cy="146304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34" name="Shape 32"/>
          <p:cNvSpPr/>
          <p:nvPr/>
        </p:nvSpPr>
        <p:spPr>
          <a:xfrm>
            <a:off x="8467344" y="4224528"/>
            <a:ext cx="1847088" cy="786384"/>
          </a:xfrm>
          <a:prstGeom prst="roundRect">
            <a:avLst>
              <a:gd name="adj" fmla="val 12791"/>
            </a:avLst>
          </a:prstGeom>
          <a:solidFill>
            <a:srgbClr val="E3F1EA"/>
          </a:solidFill>
          <a:ln/>
        </p:spPr>
      </p:sp>
      <p:sp>
        <p:nvSpPr>
          <p:cNvPr id="35" name="Text 33"/>
          <p:cNvSpPr/>
          <p:nvPr/>
        </p:nvSpPr>
        <p:spPr>
          <a:xfrm>
            <a:off x="8540496" y="422452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승인분만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F6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AI_DOC_LINK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51023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승격 즉시 다음 질의부터 process_context 체인이 자동으로 새 앵커를 커버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V="1">
            <a:off x="9372600" y="4224528"/>
            <a:ext cx="18288" cy="-1463040"/>
          </a:xfrm>
          <a:prstGeom prst="bentConnector3">
            <a:avLst/>
          </a:prstGeom>
          <a:noFill/>
          <a:ln w="22225">
            <a:solidFill>
              <a:srgbClr val="1F6F52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6928" y="5504688"/>
            <a:ext cx="11055096" cy="713232"/>
          </a:xfrm>
          <a:prstGeom prst="roundRect">
            <a:avLst>
              <a:gd name="adj" fmla="val 14103"/>
            </a:avLst>
          </a:prstGeom>
          <a:solidFill>
            <a:srgbClr val="111834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5504688"/>
            <a:ext cx="10506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파이프라인에 어떤 실험적 변경을 가하더라도 운영 중인 질의 서비스는 영향을 받지 않는다 — 품질이 검증되기 전까지는 '존재하지 않는 것과 같은' 상태를 유지하는 것이 핵심.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·  거버넌스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 · 검수 주기 · 재현성 · 보류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 전체를 삭제해도 원본 소스에서 언제든 동일한 추출을 재실행할 수 있어야 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1055096" cy="932688"/>
          </a:xfrm>
          <a:prstGeom prst="roundRect">
            <a:avLst>
              <a:gd name="adj" fmla="val 10784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7510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08176" y="184708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 가능성 유지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staging/은 별도 백업 대상이 아니다 — 백업 대상은 원본 소스와 audit-log/, AI_DOC_LINK로 충분하다.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11055096" cy="932688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05409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08176" y="292608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주기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90779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종료 직후 즉시 검수보다, 주기적(예: 주 1회) 리뷰 큐로 SME 검수를 운영하면 현업 부담이 낮아지고 품질도 안정적이다.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77056"/>
            <a:ext cx="11055096" cy="932688"/>
          </a:xfrm>
          <a:prstGeom prst="roundRect">
            <a:avLst>
              <a:gd name="adj" fmla="val 10784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133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08176" y="40050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고정과 재현성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98678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model_version 필드로 어느 버전이 후보를 제안했는지 추적. 모델 교체 시 pending 후보 재실행 여부를 정책으로 명시한다.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11055096" cy="932688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2120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212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08176" y="508406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요약은 계속 보류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506577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군집별 LLM 요약('체인 서사')은 이번에도 만들지 않는다. 정적 소비자가 실제로 필요해지는 시점에 재검토한다.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·  활용 전략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지표와 선순환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성공 기준은 단계별 미연결 청크 비율의 변화 — 세 단계 모두 실행이 목표가 아니다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349240" cy="1554480"/>
          </a:xfrm>
          <a:prstGeom prst="roundRect">
            <a:avLst>
              <a:gd name="adj" fmla="val 6471"/>
            </a:avLst>
          </a:prstGeom>
          <a:solidFill>
            <a:srgbClr val="EAF0F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1396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미연결 청크 비율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①→②→③ 진행에 따라 비율이 얼마나 줄었는지 추적하고, ③ 도입 이후에도 개선폭이 미미하면 그 시점에 도입을 멈춘다.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5349240" cy="1700784"/>
          </a:xfrm>
          <a:prstGeom prst="roundRect">
            <a:avLst>
              <a:gd name="adj" fmla="val 5914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5478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부산물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38404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현장어-표준어 매핑은 신입 용어 사전으로 재사용 가능하다. 단, 별도 위키 문서를 새로 만들지 말고 AI_DOC_LINK/별칭 사전을 직접 조회하는 화면(리포트)으로 노출한다 — '두 번째 진실'을 만들지 않는다.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5236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 구조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2103120"/>
            <a:ext cx="3429000" cy="512064"/>
          </a:xfrm>
          <a:prstGeom prst="roundRect">
            <a:avLst>
              <a:gd name="adj" fmla="val 19643"/>
            </a:avLst>
          </a:prstGeom>
          <a:solidFill>
            <a:srgbClr val="FB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7598664" y="2103120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별칭 누적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3708" y="2633472"/>
            <a:ext cx="146304" cy="164592"/>
          </a:xfrm>
          <a:prstGeom prst="downArrow">
            <a:avLst/>
          </a:prstGeom>
          <a:solidFill>
            <a:srgbClr val="C97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2816352"/>
            <a:ext cx="3429000" cy="512064"/>
          </a:xfrm>
          <a:prstGeom prst="roundRect">
            <a:avLst>
              <a:gd name="adj" fmla="val 19643"/>
            </a:avLst>
          </a:prstGeom>
          <a:solidFill>
            <a:srgbClr val="EAF0FC"/>
          </a:solidFill>
          <a:ln/>
        </p:spPr>
      </p:sp>
      <p:sp>
        <p:nvSpPr>
          <p:cNvPr id="17" name="Text 15"/>
          <p:cNvSpPr/>
          <p:nvPr/>
        </p:nvSpPr>
        <p:spPr>
          <a:xfrm>
            <a:off x="7598664" y="2816352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언급 매칭 적중률 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3708" y="3346704"/>
            <a:ext cx="146304" cy="164592"/>
          </a:xfrm>
          <a:prstGeom prst="downArrow">
            <a:avLst/>
          </a:prstGeom>
          <a:solidFill>
            <a:srgbClr val="C97A12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2360" y="3529584"/>
            <a:ext cx="3429000" cy="512064"/>
          </a:xfrm>
          <a:prstGeom prst="roundRect">
            <a:avLst>
              <a:gd name="adj" fmla="val 19643"/>
            </a:avLst>
          </a:prstGeom>
          <a:solidFill>
            <a:srgbClr val="E3F1EA"/>
          </a:solidFill>
          <a:ln/>
        </p:spPr>
      </p:sp>
      <p:sp>
        <p:nvSpPr>
          <p:cNvPr id="20" name="Text 18"/>
          <p:cNvSpPr/>
          <p:nvPr/>
        </p:nvSpPr>
        <p:spPr>
          <a:xfrm>
            <a:off x="7598664" y="3529584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LLM 추출 호출 빈도 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881360" y="2359152"/>
            <a:ext cx="292608" cy="0"/>
          </a:xfrm>
          <a:prstGeom prst="line">
            <a:avLst/>
          </a:prstGeom>
          <a:noFill/>
          <a:ln w="19050">
            <a:solidFill>
              <a:srgbClr val="C97A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3968" y="2359152"/>
            <a:ext cx="0" cy="1426464"/>
          </a:xfrm>
          <a:prstGeom prst="line">
            <a:avLst/>
          </a:prstGeom>
          <a:noFill/>
          <a:ln w="19050">
            <a:solidFill>
              <a:srgbClr val="C97A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3785616"/>
            <a:ext cx="292608" cy="0"/>
          </a:xfrm>
          <a:prstGeom prst="line">
            <a:avLst/>
          </a:prstGeom>
          <a:noFill/>
          <a:ln w="19050">
            <a:solidFill>
              <a:srgbClr val="C97A1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52360" y="56144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"계속 돌려야 하는 상시 프로세스"가 아니라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"점점 덜 필요해지도록 설계된 보완 장치"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·  도입 체크리스트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확인할 9가지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사후에 정하면 판단이 흔들리기 쉽다 — 임계값과 정책은 사전에 합의한다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920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395728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파일럿으로 현재 언급 매칭 연결률을 측정했는가?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737360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920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2395728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연결률 목표치(임계값)를 사전에 명시적으로 합의했는가?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7888" y="1920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2395728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Milvus 의미 검색 배포가 완료되어 즉시 2단계 투입 가능한가?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343814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913632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투입 시, 미연결 청크만 대상으로 하는 스코프 필터가 구현되어 있는가?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06824" y="3255264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07992" y="343814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3913632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evidence_type 필드가 그래프 스키마에 이미 존재하는가, 신규 추가가 필요한가?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255264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247888" y="343814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7888" y="3913632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상태 후보가 실시간 질의 경로에 절대 노출되지 않도록 차단 로직이 있는가?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773168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" y="5431536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SME 검수 주기와 담당자가 정해졌는가?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06824" y="4773168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07992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507992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07992" y="5431536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 이력을 재실행 시 중복 제안 방지에 활용하는 로직이 있는가?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46720" y="4773168"/>
            <a:ext cx="3575304" cy="1371600"/>
          </a:xfrm>
          <a:prstGeom prst="roundRect">
            <a:avLst>
              <a:gd name="adj" fmla="val 7333"/>
            </a:avLst>
          </a:prstGeom>
          <a:solidFill>
            <a:srgbClr val="F4F7FC"/>
          </a:solidFill>
          <a:ln/>
        </p:spPr>
      </p:sp>
      <p:sp>
        <p:nvSpPr>
          <p:cNvPr id="38" name="Shape 36"/>
          <p:cNvSpPr/>
          <p:nvPr/>
        </p:nvSpPr>
        <p:spPr>
          <a:xfrm>
            <a:off x="8247888" y="4956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24788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47888" y="5431536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교체 시 정책(재실행 여부)이 문서화되어 있는가?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·  구조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위키 구조와의 차이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전제가 다르면 목표 상태도 달라진다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480560"/>
                <a:gridCol w="48828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일반형 LLM 위키 (선행 문서 01)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문서의 추출 스테이징 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그래프·벡터 인프라가 없거나 미흡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결정적 그래프(AI_EVT_*)와 벡터 검색(Milvus) 이미 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저장되는 개념/엔티티/결론 페이지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승격 전까지만 존재하는 휘발성 추출 레코드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진실 원천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자체가 정제된 지식의 저장소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+ AI_DOC_LINK가 유일한 진실 원천, 위키는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주기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지속적 갱신 (에이전트가 상시 읽고 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미연결 청크 발생 시에만 배치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질의 영향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페이지가 곧 검색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 없음 — 승격된 결과만 기존 도구체인에 편입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위키가 계속 성장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파이프라인 자체의 호출 빈도가 점점 줄어드는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 스테이징 아키텍처 v1.0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73936"/>
            <a:ext cx="11055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갈아타는 것이 아니라, 이미 도착해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그래프+벡터 하이브리드라는 동일한 목적지에, 이미 다른 길로 도착해 있는 상태입니다.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프레임워크에서 가져올 것은 문서 → 현장어 연결의 LLM 추출 한 조각뿐입니다.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639312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36027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그래프는 그대로 진실 원천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4206240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2F4B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41696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추출은 배치 전용, 스코프는 미연결 청크만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773168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C97A1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773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4736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승격은 단방향, staging은 감사 로그로만 잔존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5C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5340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이 파이프라인의 호출 빈도가 줄어드는 것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6108192"/>
            <a:ext cx="11055096" cy="0"/>
          </a:xfrm>
          <a:prstGeom prst="line">
            <a:avLst/>
          </a:prstGeom>
          <a:noFill/>
          <a:ln w="12700">
            <a:solidFill>
              <a:srgbClr val="31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2362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구현 시 AI_DOC_LINK 스키마 · GLM-5.2 호출 방식 · Milvus 배포 상세는 해당 시스템의 최신 설계 문서를 함께 참조합니다.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기존 자산 연계형 LLM 추출 스테이징 아키텍처</dc:title>
  <dc:subject>PptxGenJS Presentation</dc:subject>
  <dc:creator>MES-DevKG</dc:creator>
  <cp:lastModifiedBy>MES-DevKG</cp:lastModifiedBy>
  <cp:revision>1</cp:revision>
  <dcterms:created xsi:type="dcterms:W3CDTF">2026-08-17T09:54:33Z</dcterms:created>
  <dcterms:modified xsi:type="dcterms:W3CDTF">2026-08-17T09:54:33Z</dcterms:modified>
</cp:coreProperties>
</file>